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920240"/>
            <a:ext cx="109728" cy="1645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全球与中国市场全景 · 双路径分析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2062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正式版 v2.0</a:t>
            </a:r>
          </a:p>
          <a:p>
            <a:pPr algn="l">
              <a:spcAft>
                <a:spcPts val="359"/>
              </a:spcAft>
            </a:pPr>
            <a:r>
              <a:rPr sz="1200" b="0">
                <a:solidFill>
                  <a:srgbClr val="93C5FD"/>
                </a:solidFill>
                <a:latin typeface="Microsoft YaHei"/>
                <a:ea typeface="Microsoft YaHei"/>
              </a:rPr>
              <a:t>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数据原则：仅采用第三方监测、公司财报或官方公告可追溯数据；未经独立验证的自报数据不予展示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</a:rPr>
              <a:t>● 第一章  研究说明与数据口径</a:t>
            </a:r>
          </a:p>
          <a:p>
            <a:pPr algn="l">
              <a:spcAft>
                <a:spcPts val="45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</a:rPr>
              <a:t>● 第二章  执行摘要：主要发现与建议方向</a:t>
            </a:r>
          </a:p>
          <a:p>
            <a:pPr algn="l">
              <a:spcAft>
                <a:spcPts val="45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</a:rPr>
              <a:t>● 第三章  全球市场全景：规模、导流与假日季验证</a:t>
            </a:r>
          </a:p>
          <a:p>
            <a:pPr algn="l">
              <a:spcAft>
                <a:spcPts val="45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</a:rPr>
              <a:t>● 第四章  双路径分析：站外LLM与站内AI导购</a:t>
            </a:r>
          </a:p>
          <a:p>
            <a:pPr algn="l">
              <a:spcAft>
                <a:spcPts val="45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</a:rPr>
              <a:t>● 第五章  中国市场格局</a:t>
            </a:r>
          </a:p>
          <a:p>
            <a:pPr algn="l">
              <a:spcAft>
                <a:spcPts val="45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</a:rPr>
              <a:t>● 第六章  产业链结构（MECE）</a:t>
            </a:r>
          </a:p>
          <a:p>
            <a:pPr algn="l">
              <a:spcAft>
                <a:spcPts val="45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</a:rPr>
              <a:t>● 第七章  零售与生鲜场景结合点</a:t>
            </a:r>
          </a:p>
          <a:p>
            <a:pPr algn="l">
              <a:spcAft>
                <a:spcPts val="45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</a:rPr>
              <a:t>● 第八章  产品技术机会与结论建议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  研究说明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研究范围、能力分级与数据采用原则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研究范围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AI介入消费者需求唤起—决策—交易—履约—售后链路，或介入商家经营链路的电商形态</a:t>
            </a:r>
          </a:p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路径A：站外2C LLM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通用AI助手内完成购物决策起点：ChatGPT、Gemini、Perplexity、豆包、千问、元宝</a:t>
            </a:r>
          </a:p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路径B：站内AI导购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电商/零售App内嵌助手：Amazon Rufus、Walmart Sparky、淘宝AI万能搜、Instacart Cart Assistant</a:t>
            </a:r>
          </a:p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能力分级A1—A5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站内问答 → 站外种草导流 → 对话内闭环 → 授权代理执行 → 自主代理</a:t>
            </a:r>
          </a:p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数据原则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优先第三方与财报数据；公司自报须来自财报电话会或官方公告；未经独立验证的自报数据不展示；严格区分「AI影响的销售」与「AI平台内成交」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  执行摘要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三项主要发现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发现一：决策入口向对话界面迁移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美国零售AI导流2026Q1同比+393%，转化率一年内由-38%转为+42%（Adobe）；假日季AI影响约20%全球零售订单、2620亿美元（Salesforce）；国内豆包MAU 3.83亿、千问1.66亿（QuestMobile）</a:t>
            </a:r>
          </a:p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发现二：交易宜留在零售商自有体系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ChatGPT Instant Checkout上线约半年后收缩；Sparky以插件接入外部AI、结账回自有体系后，转化约为自有站70%，高于平台代结账阶段（约1/3）</a:t>
            </a:r>
          </a:p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发现三：站内导购效果可量化，生鲜与会员制适配度更高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Rufus 2025年使用用户超3亿，购买完成率+60%，约120亿美元增量年化销售（亚马逊财报电话会，公司口径）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数据来源详见各章节图表脚注；本页仅列已纳入正式报告的可追溯数据。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  执行摘要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三项建议方向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站内先行</a:t>
            </a:r>
          </a:p>
          <a:p>
            <a:pPr algn="l">
              <a:spcAft>
                <a:spcPts val="375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   在自有App/小程序落地高确定性场景：商品问答、菜谱/清单成车、售后自动化；以转化率与使用率为考核指标</a:t>
            </a:r>
          </a:p>
          <a:p>
            <a:pPr algn="l">
              <a:spcAft>
                <a:spcPts val="42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供给侧就绪</a:t>
            </a:r>
          </a:p>
          <a:p>
            <a:pPr algn="l">
              <a:spcAft>
                <a:spcPts val="375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   推进商品数据结构化与大模型可读性改造；对主要AI入口建立「被推荐率/被平替率」月度监测</a:t>
            </a:r>
          </a:p>
          <a:p>
            <a:pPr algn="l">
              <a:spcAft>
                <a:spcPts val="42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站外合作坚持交易主权</a:t>
            </a:r>
          </a:p>
          <a:p>
            <a:pPr algn="l">
              <a:spcAft>
                <a:spcPts val="375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   与通用AI入口合作时采用「插件/小程序跳转、结账留在自有体系」；避免将结账权让渡给第三方AI平台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  全球市场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图1  代理式商务规模预测：口径差异决定结论差异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v2.0｜数据截至2026-07｜6</a:t>
            </a:r>
          </a:p>
        </p:txBody>
      </p:sp>
      <p:pic>
        <p:nvPicPr>
          <p:cNvPr id="6" name="Picture 5" descr="01_global_agentic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835" y="1280160"/>
            <a:ext cx="792402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  全球市场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图2  美国零售网站AI导流增长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v2.0｜数据截至2026-07｜7</a:t>
            </a:r>
          </a:p>
        </p:txBody>
      </p:sp>
      <p:pic>
        <p:nvPicPr>
          <p:cNvPr id="6" name="Picture 5" descr="02_us_ai_traffic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85" y="1280160"/>
            <a:ext cx="1024952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  全球市场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图3  AI导流质量：转化率与单次访问收入逆转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v2.0｜数据截至2026-07｜8</a:t>
            </a:r>
          </a:p>
        </p:txBody>
      </p:sp>
      <p:pic>
        <p:nvPicPr>
          <p:cNvPr id="6" name="Picture 5" descr="03_ai_conversion_rever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85" y="1280160"/>
            <a:ext cx="1024952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  全球市场 4/4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图6  2025假日季：AI影响约20%全球零售订单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v2.0｜数据截至2026-07｜9</a:t>
            </a:r>
          </a:p>
        </p:txBody>
      </p:sp>
      <p:pic>
        <p:nvPicPr>
          <p:cNvPr id="6" name="Picture 5" descr="06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85" y="1280160"/>
            <a:ext cx="1024952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  全球市场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行业案例：对话内代结账受挫，插件+自有结账更稳妥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Instant Checkout（2025-09至约2026-03）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ChatGPT内完成结账的试点上线后收缩；公开报道显示转化明显低于商家自有渠道，错购与体验问题突出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Sparky插件模式（2026-03起）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沃尔玛自有助手以插件形式进入ChatGPT/Gemini：对话内选品，回自有体系结账；转化约为自有站70%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Amazon Rufus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2025年使用用户超3亿；购买完成率+60%；约120亿美元增量年化销售（亚马逊财报电话会，公司口径）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Instacart Cart Assistant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企业级白标AI套件输出给Kroger、Sprouts等，覆盖膳食规划与对话建车（Instacart 2025-11新闻稿）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来源：OpenAI公告、媒体交叉报道、亚马逊财报电话会、Instacart官方新闻稿。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  双路径分析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路径A与路径B对照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8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663440"/>
                <a:gridCol w="4663440"/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路径A：站外2C LLM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路径B：站内AI导购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核心价值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截获购物决策起点，影响品类与品牌心智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降低站内决策成本，提升转化与客单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代表产品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ChatGPT、Gemini、豆包、千问、元宝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Rufus、Sparky、淘宝AI万能搜、Cart Assistant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变现方式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交易佣金、归因结算、联盟分佣、订阅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不直接收费；体现为GMV增量与留存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主要风险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推荐公正性、幻觉错购、交易权争夺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推理成本、答案页与广告位冲突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终局角色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发现层与部分闭环入口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交易场内默认决策层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整理自公开产品进展与本报告第四章；量化数据见后续图表。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  双路径分析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图4  主要AI购物入口用户规模（可追溯数据）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v2.0｜数据截至2026-07｜12</a:t>
            </a:r>
          </a:p>
        </p:txBody>
      </p:sp>
      <p:pic>
        <p:nvPicPr>
          <p:cNvPr id="6" name="Picture 5" descr="04_ai_entrance_user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285" y="1280160"/>
            <a:ext cx="845912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  双路径分析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图7  站内导购与站外引荐：分口径效果对照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v2.0｜数据截至2026-07｜13</a:t>
            </a:r>
          </a:p>
        </p:txBody>
      </p:sp>
      <p:pic>
        <p:nvPicPr>
          <p:cNvPr id="6" name="Picture 5" descr="07_instore_ai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91" y="1280160"/>
            <a:ext cx="10276513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  中国市场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图5  中国AI私域电商市场规模与渗透率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v2.0｜数据截至2026-07｜14</a:t>
            </a:r>
          </a:p>
        </p:txBody>
      </p:sp>
      <p:pic>
        <p:nvPicPr>
          <p:cNvPr id="6" name="Picture 5" descr="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175" y="1280160"/>
            <a:ext cx="824934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  中国市场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入口格局：四大阵营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4389120"/>
                <a:gridCol w="3108960"/>
              </a:tblGrid>
              <a:tr h="43891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阵营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进展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字节：豆包×抖音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垂直闭环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MAU 3.83亿；买前问豆包一级入口；订单纳入抖音电商归因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QuestMobile；官方/媒体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阿里：千问×淘宝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垂直闭环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MAU 1.66亿；对话完成淘宝全链路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QuestMobile；阿里官宣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腾讯×京东：元宝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生态联盟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对话出商品卡，跳转京东小程序成交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联合官宣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内容与其他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社区AI/站内工具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小红书点点并入主站；拼多多、快手已上线AI搜索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36氪、网经社等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仅列可追溯进展；未纳入未经独立验证的自报运营规模数据。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  产业链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六层结构（按交易功能环节切分）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8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926080"/>
                <a:gridCol w="3017520"/>
                <a:gridCol w="2926080"/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主要成本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训练与推理算力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佣金、归因、订阅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推理、获客、合规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商品池、交易与售后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运营、渠道费率、feed改造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协议与支付信任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风控与标准建设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研发与多模型适配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数据与算法团队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竞合模式：垂直闭环 / 生态联盟与插件 / 中立第三方。详见报告第六章。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第七章  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生鲜结构性特征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综合零售（按旅程）</a:t>
            </a:r>
          </a:p>
          <a:p>
            <a:pPr algn="l">
              <a:spcAft>
                <a:spcPts val="35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需求唤起：站外LLM商品推荐</a:t>
            </a:r>
          </a:p>
          <a:p>
            <a:pPr algn="l">
              <a:spcAft>
                <a:spcPts val="35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方案生成：答案报告式导购</a:t>
            </a:r>
          </a:p>
          <a:p>
            <a:pPr algn="l">
              <a:spcAft>
                <a:spcPts val="35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选品比较：参数与评论提炼</a:t>
            </a:r>
          </a:p>
          <a:p>
            <a:pPr algn="l">
              <a:spcAft>
                <a:spcPts val="35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比价凑单：算优惠、盯价</a:t>
            </a:r>
          </a:p>
          <a:p>
            <a:pPr algn="l">
              <a:spcAft>
                <a:spcPts val="35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下单支付：闭环 vs 跳转自有结账</a:t>
            </a:r>
          </a:p>
          <a:p>
            <a:pPr algn="l">
              <a:spcAft>
                <a:spcPts val="35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履约售后：物流问答与退换自动化</a:t>
            </a:r>
          </a:p>
          <a:p>
            <a:pPr algn="l">
              <a:spcAft>
                <a:spcPts val="35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复购：偏好记忆与补货提醒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生鲜零售（三类优先组合）</a:t>
            </a:r>
          </a:p>
          <a:p>
            <a:pPr algn="l">
              <a:spcAft>
                <a:spcPts val="359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1. 餐桌助手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对话/语音 + 菜谱成车 + 周期购</a:t>
            </a:r>
          </a:p>
          <a:p>
            <a:pPr algn="l">
              <a:spcAft>
                <a:spcPts val="359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效期/库存接入推荐，临期与菜谱联动</a:t>
            </a:r>
          </a:p>
          <a:p>
            <a:pPr algn="l">
              <a:spcAft>
                <a:spcPts val="359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3. 白标AI基建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面向区域商超输出对话建车能力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（参照Instacart Cart Assistant模式）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第八章  产品技术机会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分角色机会与合规要点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站内助手从问答升级到任务代理；AI答案页商业化规则；用户授权中心（额度/品类/撤销）</a:t>
            </a:r>
          </a:p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商品feed结构化与大模型可读性；GEO监测与内容供给；自有助手接入主流AI入口</a:t>
            </a:r>
          </a:p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餐桌助手、损耗联动推荐、白标能力输出</a:t>
            </a:r>
          </a:p>
          <a:p>
            <a:pPr algn="l">
              <a:spcAft>
                <a:spcPts val="39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● 合规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</a:rPr>
              <a:t>   生成式AI与算法推荐备案、内容标识、个人信息保护影响评估、数据出境、未成年人与代扣授权、价格表述合规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第八章  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结论四点与行动优先级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结论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①规模化应用阶段已到；②站外LLM与站内导购长期并存；③「AI发现+零售商成交」更稳健；④生鲜与会员制适配度更高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P0 监测与口径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区分「影响」与「成交」；对主要AI入口做月度可见度监测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P1 站内试点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商品问答、清单/菜谱成车、售后自动化；设定转化与客诉门槛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P2 供给就绪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结构化feed与内容治理，同时服务站内助手与站外被发现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P3 站外接入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优先插件/小程序跳转、结账自有；明确数据与会员边界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● P4 生鲜专项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   评估餐桌助手与损耗联动推荐的投入产出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AI电商行业研究报告｜正式版 v2.0｜数据截至2026-07｜20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7280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023360"/>
                <a:gridCol w="3840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规模预测对比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eMarketer/MS/Bain/McKinsey等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窄=平台内结账；宽=AI影响/编排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美国AI导流增速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 2026-04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AI平台跳转至零售网站的访问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转化与RPV逆转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AI相对非AI渠道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入口用户规模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QuestMobile；OpenAI；Google；亚马逊财报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WAU/MAU/年度用户不同，仅量级对照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 2026-05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私域子集，非全量AI电商GMV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假日季AI影响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 2025假日季报告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「影响」宽口径</a:t>
                      </a:r>
                    </a:p>
                  </a:txBody>
                  <a:tcPr marT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导购与引荐效果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亚马逊财报；Salesforce；Adobe；Shopify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两条证据线分列，不可合并</a:t>
                      </a:r>
                    </a:p>
                  </a:txBody>
                  <a:tcPr marT="381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更新数据：修改 data/*.csv 后执行 python3 scripts/make_charts.py &amp;&amp; python3 scripts/make_pptx.py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