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109728" cy="17373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AI电商行业研究报告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BFDBFE"/>
                </a:solidFill>
                <a:latin typeface="Microsoft YaHei"/>
                <a:ea typeface="Microsoft YaHei"/>
              </a:rPr>
              <a:t>市场变化与预测 · 主要业务模式分析 · 产业链与场景机会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148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v3.2　数据截至：2026年7月</a:t>
            </a:r>
          </a:p>
          <a:p>
            <a:pPr algn="l">
              <a:spcAft>
                <a:spcPts val="330"/>
              </a:spcAft>
            </a:pPr>
            <a:r>
              <a:rPr sz="1100" b="0">
                <a:solidFill>
                  <a:srgbClr val="93C5FD"/>
                </a:solidFill>
                <a:latin typeface="Microsoft YaHei"/>
                <a:ea typeface="Microsoft YaHei"/>
              </a:rPr>
              <a:t>数据规则：公开可追溯数据（第三方监测／财报电话会／官方公告／司法文件）与内部运营口径数据分别标注；</a:t>
            </a:r>
          </a:p>
          <a:p>
            <a:pPr algn="l">
              <a:spcAft>
                <a:spcPts val="330"/>
              </a:spcAft>
            </a:pPr>
            <a:r>
              <a:rPr sz="1100" b="0">
                <a:solidFill>
                  <a:srgbClr val="93C5FD"/>
                </a:solidFill>
                <a:latin typeface="Microsoft YaHei"/>
                <a:ea typeface="Microsoft YaHei"/>
              </a:rPr>
              <a:t>未达置信度门槛的自报数据不予展示；全部测算标注假设与锚点，并与实测数据区分呈现。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报告结构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AI电商行业研究报告｜v3.2｜数据截至2026-07｜第2页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01168" indent="0">
              <a:spcAft>
                <a:spcPts val="2245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● 研究说明与数据口径　　范围界定、能力分级、数据分级与口径纪律</a:t>
            </a:r>
          </a:p>
          <a:p>
            <a:pPr algn="l" marL="201168" indent="0">
              <a:spcAft>
                <a:spcPts val="2245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● 摘要　　六项主要发现</a:t>
            </a:r>
          </a:p>
          <a:p>
            <a:pPr algn="l" marL="201168" indent="0">
              <a:spcAft>
                <a:spcPts val="2245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● 第一章　市场变化与预测　　通用AI导购已实现数据与预测；站内AI导购实测与情景测算；分析、建议与实验设计</a:t>
            </a:r>
          </a:p>
          <a:p>
            <a:pPr algn="l" marL="201168" indent="0">
              <a:spcAft>
                <a:spcPts val="2245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● 第二章　主要业务模式分析　　模式分类框架；通用AI导购案例；零售商自有AI导购案例；经验小结</a:t>
            </a:r>
          </a:p>
          <a:p>
            <a:pPr algn="l" marL="201168" indent="0">
              <a:spcAft>
                <a:spcPts val="2245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● 第三章　产业链结构　　六层功能切分与三种竞合模式</a:t>
            </a:r>
          </a:p>
          <a:p>
            <a:pPr algn="l" marL="201168" indent="0">
              <a:spcAft>
                <a:spcPts val="2245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● 第四章　零售与生鲜场景结合点</a:t>
            </a:r>
          </a:p>
          <a:p>
            <a:pPr algn="l" marL="201168" indent="0">
              <a:spcAft>
                <a:spcPts val="2245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● 第五章　产品与技术机会</a:t>
            </a:r>
          </a:p>
          <a:p>
            <a:pPr algn="l" marL="201168" indent="0">
              <a:spcAft>
                <a:spcPts val="2245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● 第六章　结论与建议</a:t>
            </a:r>
          </a:p>
          <a:p>
            <a:pPr algn="l" marL="201168" indent="0">
              <a:spcAft>
                <a:spcPts val="2245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● 附录　图表与数据来源索引；数据置信度分级与未采纳数据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研究说明与数据口径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研究范围、两类主体与能力分级A1—A5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AI电商行业研究报告｜v3.2｜数据截至2026-07｜第3页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600"/>
              </a:spcAft>
            </a:pPr>
            <a:r>
              <a:rPr sz="1400" b="1">
                <a:solidFill>
                  <a:srgbClr val="0F2744"/>
                </a:solidFill>
                <a:latin typeface="Microsoft YaHei"/>
                <a:ea typeface="Microsoft YaHei"/>
              </a:rPr>
              <a:t>研究范围</a:t>
            </a:r>
          </a:p>
          <a:p>
            <a:pPr algn="l" marL="0" indent="0">
              <a:spcAft>
                <a:spcPts val="14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以大模型或智能体技术介入消费者「需求唤起—决策—交易—履约—售后」链路，或介入商家经营链路的电商形态。重点为消费者侧导购与交易环节；商家侧经营提效作为产业链一层覆盖。</a:t>
            </a:r>
          </a:p>
          <a:p>
            <a:pPr algn="l" marL="0" indent="0">
              <a:spcAft>
                <a:spcPts val="600"/>
              </a:spcAft>
            </a:pPr>
            <a:r>
              <a:rPr sz="1400" b="1">
                <a:solidFill>
                  <a:srgbClr val="0F2744"/>
                </a:solidFill>
                <a:latin typeface="Microsoft YaHei"/>
                <a:ea typeface="Microsoft YaHei"/>
              </a:rPr>
              <a:t>两类主体</a:t>
            </a:r>
          </a:p>
          <a:p>
            <a:pPr algn="l" marL="0" indent="0">
              <a:spcAft>
                <a:spcPts val="3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通用AI导购：用户在通用AI助手内完成购物决策，随后在AI界面内或跳转商家体系成交</a:t>
            </a:r>
          </a:p>
          <a:p>
            <a:pPr algn="l" marL="201168" indent="0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代表：ChatGPT、Gemini、Perplexity、豆包、千问、元宝</a:t>
            </a:r>
          </a:p>
          <a:p>
            <a:pPr algn="l" marL="0" indent="0">
              <a:spcAft>
                <a:spcPts val="3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站内AI导购：电商或零售自有站点／App内嵌的AI辅助导购工具</a:t>
            </a:r>
          </a:p>
          <a:p>
            <a:pPr algn="l" marL="201168" indent="0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代表：Amazon Rufus、淘宝AI导购、千问AI购物助手、Instacart Cart Assistant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55080" y="1234440"/>
          <a:ext cx="52120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737360"/>
                <a:gridCol w="2834640"/>
              </a:tblGrid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级别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名称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当前状态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A1</a:t>
                      </a:r>
                    </a:p>
                  </a:txBody>
                  <a:tcPr marT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站内问答辅助</a:t>
                      </a:r>
                    </a:p>
                  </a:txBody>
                  <a:tcPr marT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已规模化</a:t>
                      </a:r>
                    </a:p>
                  </a:txBody>
                  <a:tcPr marT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A2</a:t>
                      </a:r>
                    </a:p>
                  </a:txBody>
                  <a:tcPr marT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站外发现导流</a:t>
                      </a:r>
                    </a:p>
                  </a:txBody>
                  <a:tcPr marT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已规模化</a:t>
                      </a:r>
                    </a:p>
                  </a:txBody>
                  <a:tcPr marT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A3</a:t>
                      </a:r>
                    </a:p>
                  </a:txBody>
                  <a:tcPr marT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对话内闭环</a:t>
                      </a:r>
                    </a:p>
                  </a:txBody>
                  <a:tcPr marT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生态内已落地；跨生态代结账已收缩</a:t>
                      </a:r>
                    </a:p>
                  </a:txBody>
                  <a:tcPr marT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A4</a:t>
                      </a:r>
                    </a:p>
                  </a:txBody>
                  <a:tcPr marT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授权代理执行</a:t>
                      </a:r>
                    </a:p>
                  </a:txBody>
                  <a:tcPr marT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试点阶段（盯价自动买、一句话帮抢）</a:t>
                      </a:r>
                    </a:p>
                  </a:txBody>
                  <a:tcPr marT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A5</a:t>
                      </a:r>
                    </a:p>
                  </a:txBody>
                  <a:tcPr marT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自主代理</a:t>
                      </a:r>
                    </a:p>
                  </a:txBody>
                  <a:tcPr marT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未规模化，且存在法律争议</a:t>
                      </a:r>
                    </a:p>
                  </a:txBody>
                  <a:tcPr marT="254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023610"/>
            <a:ext cx="10881360" cy="3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能力分级A1—A5回答「做到什么程度」，模式编号M1—M5（见第22页）回答「交易结构如何」。二者在案例表中交叉标注，用于回答一个关键问题：同一能力级别下，交易结构差异带来什么后果。答案见第25页——同为A3，M1已退场而M2、M4在扩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研究说明与数据口径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数据分级规则：不同等级的数据允许不同用法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AI电商行业研究报告｜v3.2｜数据截至2026-07｜第4页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7280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572000"/>
                <a:gridCol w="4480560"/>
              </a:tblGrid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等级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定义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使用方式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P1 第三方与事实性披露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独立第三方监测数据；官方公告、协议文档、司法文件中的事实性内容（时间、条款、判决）；经审计财务数字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可作为结论主证据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P2 企业自报运营数据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企业自行统计并披露的运营与效果数据，无论披露渠道为财报电话会、新闻稿或发布会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须标注「公司口径」，并说明归因方法的已知局限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P3 内部口径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业务方提供、未公开披露、无第三方交叉验证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仅报告内部对照，不与P1混排比较，不用于对外引用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P4 未采纳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存在夸大风险、口径不明或无法交叉验证的自报数据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不展示、不进入结论；清单见附录B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预测数据的处理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第三方机构的预测值在来源上属P1，但在性质上不是观测值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附录A一律标注「P1（第三方预测）」，不作为规模基数或折算依据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023610"/>
            <a:ext cx="10881360" cy="3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四项口径纪律：①区分「AI影响的销售」与「AI界面内完成的交易」——本报告未取得同地域同周期的配对数据，故不给出二者倍数关系，但二者不在同一量级；②区分观察性对比与因果效应，「使用者相对未使用者提升X%」应视为相关性上限；③区分实测、机构预测与本报告测算；④区间不取单点（如Perplexity月活0.3~0.45亿、Instant Checkout峰值商家约12~30家、Adobe与Shopify转化优势约+42%~+54%）。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六项主要发现（1／2）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AI电商行业研究报告｜v3.2｜数据截至2026-07｜第5页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01168" indent="0">
              <a:spcAft>
                <a:spcPts val="200"/>
              </a:spcAft>
            </a:pPr>
            <a:r>
              <a:rPr sz="1220" b="1">
                <a:solidFill>
                  <a:srgbClr val="1F2937"/>
                </a:solidFill>
                <a:latin typeface="Microsoft YaHei"/>
                <a:ea typeface="Microsoft YaHei"/>
              </a:rPr>
              <a:t>● 一、站外AI引荐的质量指标已反转，但反转的因果性未被证明</a:t>
            </a:r>
          </a:p>
          <a:p>
            <a:pPr algn="l" marL="402336" indent="0">
              <a:spcAft>
                <a:spcPts val="4600"/>
              </a:spcAft>
            </a:pPr>
            <a:r>
              <a:rPr sz="1070" b="0">
                <a:solidFill>
                  <a:srgbClr val="6B7280"/>
                </a:solidFill>
                <a:latin typeface="Microsoft YaHei"/>
                <a:ea typeface="Microsoft YaHei"/>
              </a:rPr>
              <a:t>美国零售网站AI来源流量转化率一年内由低于非AI渠道38%转为高于42%，单次访问收入高37%（Adobe）。但这是渠道间观察性对比，同期该渠道定基流量指数由100升至493、访客构成必然大幅迁移，反转中来自渠道效率与来自构成变化的比例无法从公开数据分离。增速已由+1151%回落至+269%</a:t>
            </a:r>
          </a:p>
          <a:p>
            <a:pPr algn="l" marL="201168" indent="0">
              <a:spcAft>
                <a:spcPts val="200"/>
              </a:spcAft>
            </a:pPr>
            <a:r>
              <a:rPr sz="1220" b="1">
                <a:solidFill>
                  <a:srgbClr val="1F2937"/>
                </a:solidFill>
                <a:latin typeface="Microsoft YaHei"/>
                <a:ea typeface="Microsoft YaHei"/>
              </a:rPr>
              <a:t>● 二、「通用AI对话内代结账」已历一轮失败，市场收敛到「AI发现＋商家交易」</a:t>
            </a:r>
          </a:p>
          <a:p>
            <a:pPr algn="l" marL="402336" indent="0">
              <a:spcAft>
                <a:spcPts val="4600"/>
              </a:spcAft>
            </a:pPr>
            <a:r>
              <a:rPr sz="1070" b="0">
                <a:solidFill>
                  <a:srgbClr val="6B7280"/>
                </a:solidFill>
                <a:latin typeface="Microsoft YaHei"/>
                <a:ea typeface="Microsoft YaHei"/>
              </a:rPr>
              <a:t>ChatGPT Instant Checkout 2025-09-29上线、2026-03-05下线，存续约5个月，峰值接入商家约12至30家；替代方案为AI界面内的商家自有应用与开放协议，商家保持Merchant of Record身份。这是本报告证据链最完整的结论，由产品决策、协议设计、司法判定三类异质证据支撑</a:t>
            </a:r>
          </a:p>
          <a:p>
            <a:pPr algn="l" marL="201168" indent="0">
              <a:spcAft>
                <a:spcPts val="200"/>
              </a:spcAft>
            </a:pPr>
            <a:r>
              <a:rPr sz="1220" b="1">
                <a:solidFill>
                  <a:srgbClr val="1F2937"/>
                </a:solidFill>
                <a:latin typeface="Microsoft YaHei"/>
                <a:ea typeface="Microsoft YaHei"/>
              </a:rPr>
              <a:t>● 三、站内AI导购在「个体层相对效果」这一构造上只有一个公开数据点</a:t>
            </a:r>
          </a:p>
          <a:p>
            <a:pPr algn="l" marL="402336" indent="0">
              <a:spcAft>
                <a:spcPts val="4600"/>
              </a:spcAft>
            </a:pPr>
            <a:r>
              <a:rPr sz="1070" b="0">
                <a:solidFill>
                  <a:srgbClr val="6B7280"/>
                </a:solidFill>
                <a:latin typeface="Microsoft YaHei"/>
                <a:ea typeface="Microsoft YaHei"/>
              </a:rPr>
              <a:t>以「使用者对未使用者」为对照的效果数据全球仅有Amazon Rufus的「购买完成率高约60%」（2025Q4财报电话会，观察性对比）。Salesforce企业分组与Adobe／Shopify渠道数据分属另两种对照构造；亚马逊另披露的「增量年化销售近120亿美元」为绝对额、归因方法未完整披露，不可替代相对效果证据。自建实验能力是获得可决策数字的唯一途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89345"/>
            <a:ext cx="10881360" cy="165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数据来源与口径详见第一章各图表脚注；内部口径数据为P3等级，仅作内部对照。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六项主要发现（2／2）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AI电商行业研究报告｜v3.2｜数据截至2026-07｜第6页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01168" indent="0">
              <a:spcAft>
                <a:spcPts val="200"/>
              </a:spcAft>
            </a:pPr>
            <a:r>
              <a:rPr sz="1220" b="1">
                <a:solidFill>
                  <a:srgbClr val="1F2937"/>
                </a:solidFill>
                <a:latin typeface="Microsoft YaHei"/>
                <a:ea typeface="Microsoft YaHei"/>
              </a:rPr>
              <a:t>● 四、内部口径数据显示差距落在交互层，不在用户层</a:t>
            </a:r>
          </a:p>
          <a:p>
            <a:pPr algn="l" marL="402336" indent="0">
              <a:spcAft>
                <a:spcPts val="4600"/>
              </a:spcAft>
            </a:pPr>
            <a:r>
              <a:rPr sz="1070" b="0">
                <a:solidFill>
                  <a:srgbClr val="6B7280"/>
                </a:solidFill>
                <a:latin typeface="Microsoft YaHei"/>
                <a:ea typeface="Microsoft YaHei"/>
              </a:rPr>
              <a:t>淘宝AI导购DAU 500万、人均IPV 0.11次；千问电商场景DAU 43万、人均IPV 1.00次。两侧次日留存（10%对12%）与7日回访率（30%对33%）仅1.10~1.20倍，而「每轮对话产出的商品浏览为0.085次对0.357次（4.22倍）」——用户「是否愿意再来」接近，差别集中在「每一轮对话是否推进到商品」</a:t>
            </a:r>
          </a:p>
          <a:p>
            <a:pPr algn="l" marL="201168" indent="0">
              <a:spcAft>
                <a:spcPts val="200"/>
              </a:spcAft>
            </a:pPr>
            <a:r>
              <a:rPr sz="1220" b="1">
                <a:solidFill>
                  <a:srgbClr val="1F2937"/>
                </a:solidFill>
                <a:latin typeface="Microsoft YaHei"/>
                <a:ea typeface="Microsoft YaHei"/>
              </a:rPr>
              <a:t>● 五、核心建议：把人均IPV设为首要指标，切入点是「每轮对话产出」而非「对话轮次」</a:t>
            </a:r>
          </a:p>
          <a:p>
            <a:pPr algn="l" marL="402336" indent="0">
              <a:spcAft>
                <a:spcPts val="4600"/>
              </a:spcAft>
            </a:pPr>
            <a:r>
              <a:rPr sz="1070" b="0">
                <a:solidFill>
                  <a:srgbClr val="6B7280"/>
                </a:solidFill>
                <a:latin typeface="Microsoft YaHei"/>
                <a:ea typeface="Microsoft YaHei"/>
              </a:rPr>
              <a:t>两条路径成本结构完全不同：提高每轮产出不增加轮次，推理成本近似不变，人均IPV可达0.46次；增加轮次则推理成本随轮次线性上升，人均IPV只到0.24次。前者指标增益为后者约2.8倍，按单位推理成本计效率约6倍</a:t>
            </a:r>
          </a:p>
          <a:p>
            <a:pPr algn="l" marL="201168" indent="0">
              <a:spcAft>
                <a:spcPts val="200"/>
              </a:spcAft>
            </a:pPr>
            <a:r>
              <a:rPr sz="1220" b="1">
                <a:solidFill>
                  <a:srgbClr val="1F2937"/>
                </a:solidFill>
                <a:latin typeface="Microsoft YaHei"/>
                <a:ea typeface="Microsoft YaHei"/>
              </a:rPr>
              <a:t>● 六、规模测算止于流量层，且流量层本身的不确定性尚未被压缩</a:t>
            </a:r>
          </a:p>
          <a:p>
            <a:pPr algn="l" marL="402336" indent="0">
              <a:spcAft>
                <a:spcPts val="4600"/>
              </a:spcAft>
            </a:pPr>
            <a:r>
              <a:rPr sz="1070" b="0">
                <a:solidFill>
                  <a:srgbClr val="6B7280"/>
                </a:solidFill>
                <a:latin typeface="Microsoft YaHei"/>
                <a:ea typeface="Microsoft YaHei"/>
              </a:rPr>
              <a:t>情景测算只推演DAU与浏览深度，区间跨度已达5.9倍且全部来自流量层假设；由浏览量折算GMV还需详情页转化率与客单价，二者无实测值、未纳入测算，因此真实GMV不确定性会更大。压缩顺序应是先用实验测出转化率与客单价，再回头收窄流量假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1／8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图1  美国零售网站AI引荐流量：已实现增速与定基指数情景外推（不含中国市场）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AI电商行业研究报告｜v3.2｜数据截至2026-07｜第7页</a:t>
            </a:r>
          </a:p>
        </p:txBody>
      </p:sp>
      <p:pic>
        <p:nvPicPr>
          <p:cNvPr id="6" name="Picture 5" descr="fig01_ai_referral_traffic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07008"/>
            <a:ext cx="11064240" cy="3585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023610"/>
            <a:ext cx="10881360" cy="3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数据来源：左图与2026Q1为Adobe Digital Insights（2026-04）实际值，2027—2028Q1为本报告测算。关键口径：仅美国零售网站，不含中国；左面板四个窗口互有嵌套（假日季含12月、2026Q1含3月），不构成独立时点序列；年保留系数30%／40%／55%为设定值而非由单期观测推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2／8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通用AI导购：已实现的流量与质量变化（公开数据）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AI电商行业研究报告｜v3.2｜数据截至2026-07｜第8页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7280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  <a:gridCol w="4572000"/>
              </a:tblGrid>
              <a:tr h="4206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数值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数据来源与口径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AI引荐流量同比增速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2025假日季+693%；2025年12月+1151%（峰值）；2026Q1+393%；2026年3月+269%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Adobe Digital Insights（2026-04）；口径为从生成式AI平台跳转至零售网站的访问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行业对比（2026Q1）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零售+393% ＞ 旅游+233% ＞ 金融+158% ＞ 媒体娱乐+84% ＞ 科技软件+63%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同上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转化率（AI相对非AI）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2025年3月−38% → 2026年3月+42%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同上；访问中完成购买比例之差，属观察性对比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单次访问收入（AI相对非AI）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2025年3月约−56% → 2026年3月+37%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同上；2025年3月原文为「非AI比AI高128%」换算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参与度（2026年3月）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停留时长+48%；浏览页数+13%；互动率+12%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同上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2025假日季AI影响销售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2620亿美元，占销售额20.3%（全球线上销售12900亿美元）；Salesforce另按订单口径给出约20%订单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Salesforce，超15亿消费者数据。两个口径数值接近但不等价；宽口径，不等于AI界面内结账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89345"/>
            <a:ext cx="10881360" cy="165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口径提示：Adobe各项均为AI来源与非AI来源的渠道对比，未控制访客构成差异，不等同于AI渠道的因果效应。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3／8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图2  AI引荐流量的质量指标一年内反转：转化率由−38%转为+42%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AI电商行业研究报告｜v3.2｜数据截至2026-07｜第9页</a:t>
            </a:r>
          </a:p>
        </p:txBody>
      </p:sp>
      <p:pic>
        <p:nvPicPr>
          <p:cNvPr id="6" name="Picture 5" descr="fig02_ai_traffic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07008"/>
            <a:ext cx="11064240" cy="37354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023610"/>
            <a:ext cx="10881360" cy="3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数据来源：Adobe Digital Insights（2026-04）。关键口径：渠道间观察性对比、因果性未被证明，未控制访客构成差异；同期该渠道流量大幅扩张（Q1对Q1定基指数100→493即4.93倍，3月对3月约3.7倍），访客构成必然迁移，反转的归因无法从公开数据分离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4／8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图3  假日季验证：AI影响的销售约2620亿美元、占销售额20.3%，但这是「影响」宽口径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AI电商行业研究报告｜v3.2｜数据截至2026-07｜第10页</a:t>
            </a:r>
          </a:p>
        </p:txBody>
      </p:sp>
      <p:pic>
        <p:nvPicPr>
          <p:cNvPr id="6" name="Picture 5" descr="fig03_holiday_ai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07008"/>
            <a:ext cx="11064240" cy="36948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023610"/>
            <a:ext cx="10881360" cy="3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数据来源：Salesforce《2025假日购物报告》及Cyber Week报告，基于超15亿消费者购物数据。关键口径：柱高与标注均为销售额口径（20.3%／19.9%），Salesforce另按订单口径给出约20%，两者接近但不等价；「AI影响」为宽口径，不等于AI界面内结账。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5／8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通用AI导购：对话内成交的已实现规模（必须与流量数据并列看）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AI电商行业研究报告｜v3.2｜数据截至2026-07｜第11页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7280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029200"/>
                <a:gridCol w="3840480"/>
              </a:tblGrid>
              <a:tr h="4206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事项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数据来源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Instant Checkout上线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2025-09-29，首批为美国Etsy商家，Shopify商家标注「即将开放」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OpenAI与Stripe官方公告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底层协议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ACP，OpenAI与Stripe共同开发并开源，支付服务商中立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Stripe官方新闻稿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下线时间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2026-03-05，存续约5个月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媒体报道与OpenAI回应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峰值接入商家数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约12至30家（不同复盘口径不一，保留区间不取单点）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第三方复盘；OpenAI未披露官方数字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消费者试用率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首月约8%的美国成年ChatGPT用户尝试过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第三方复盘（Webinterpret口径）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替代方案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2026-03下旬起改为ChatGPT内零售商应用（Instacart、Target、Expedia、Booking.com等），商家自运营结账，ACP继续作为底层协议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OpenAI公开回应与媒体报道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023610"/>
            <a:ext cx="10881360" cy="3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结论：用户愿意在AI里研究商品（流量与转化质量均改善），但不需要在AI里结账。公开复盘归因于单件即时结账缺少购物车、优惠码、会员权益、税费计算与实时库存同步，以及商家不愿让出Merchant of Record身份。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6／8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图4  规模预测：口径宽窄造成的差距大于机构之间的差距（倍数须按可比配对给出）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AI电商行业研究报告｜v3.2｜数据截至2026-07｜第12页</a:t>
            </a:r>
          </a:p>
        </p:txBody>
      </p:sp>
      <p:pic>
        <p:nvPicPr>
          <p:cNvPr id="6" name="Picture 5" descr="fig04_agentic_market_foreca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077" y="1207008"/>
            <a:ext cx="921754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857875"/>
            <a:ext cx="10881360" cy="49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数据来源：eMarketer、Morgan Stanley、Bain、McKinsey、Edgar Dunn公开预测（2025-10至12发布），全部为机构预测值而非实测。关键口径：颜色编码口径宽窄，菱形为点估计、线段为区间。倍数须按可比配对给出：同地域同年份（美国2030年）表中无窄口径数据点，可比的是中口径下限1900亿至宽口径上限10000亿，相差约5.3倍；窄口径对宽口径需跨年份（eMarketer美国2029年1440亿对McKinsey美国2030年9000至10000亿，约6.3至6.9倍）。本报告对该差距一律按上述可比配对给出倍数，不做跨口径的量级概括，也不将预测值作为规模基数使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7／8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图5  中国市场底盘：AI私域电商渗透率预测升至约3.8倍，而隐含底盘五年只增约36%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AI电商行业研究报告｜v3.2｜数据截至2026-07｜第13页</a:t>
            </a:r>
          </a:p>
        </p:txBody>
      </p:sp>
      <p:pic>
        <p:nvPicPr>
          <p:cNvPr id="6" name="Picture 5" descr="fig05_china_ai_private_ecomme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74" y="1207008"/>
            <a:ext cx="8376146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857875"/>
            <a:ext cx="10881360" cy="49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数据来源：网经社电子商务研究中心（2026-05，电数宝数据库）。首要口径保留：该机构未公开「AI驱动」的操作化定义，属宽口径，本图只能用于观察趋势方向，不宜作为规模基数或折算依据。自洽性反算（本报告计算）：以规模÷渗透率反推隐含私域大盘＝2025年约3.87万亿元、2030年约5.26万亿元（五年复合增速约6.3%），仅为中国电商总规模59.2万亿元的约6.5%——即该预测隐含「渗透率升至约3.8倍而底盘几乎不增长」，读者应据此自行判断其可信度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8／8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图6  主要AI购物入口用户规模对照：三种统计窗口并存，条形长度不构成可比排名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AI电商行业研究报告｜v3.2｜数据截至2026-07｜第14页</a:t>
            </a:r>
          </a:p>
        </p:txBody>
      </p:sp>
      <p:pic>
        <p:nvPicPr>
          <p:cNvPr id="6" name="Picture 5" descr="fig06_ai_entrance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06" y="1207008"/>
            <a:ext cx="8607283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023610"/>
            <a:ext cx="10881360" cy="3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数据来源：QuestMobile（豆包、千问，P1）；OpenAI、Google、亚马逊2025Q4财报电话会、Perplexity公开披露（P2）。关键口径：周／月／年三种统计窗口并存，条形长度不构成可比排名；Rufus为年度累计用户，天然大于同等活跃度产品的月活；Perplexity柱长取区间上界0.45亿，标签保留原始区间；元宝因无权威披露不列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· 站内AI导购实测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图7  规模大不等于价值大：DAU为11.63倍，有效商品浏览量仅为1.28倍（P3）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AI电商行业研究报告｜v3.2｜数据截至2026-07｜第15页</a:t>
            </a:r>
          </a:p>
        </p:txBody>
      </p:sp>
      <p:pic>
        <p:nvPicPr>
          <p:cNvPr id="6" name="Picture 5" descr="fig07_instore_assistant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821" y="1207008"/>
            <a:ext cx="9728052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857875"/>
            <a:ext cx="10881360" cy="49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数据性质：P3内部运营口径（淘宝AI导购与千问电商场景），由业务方提供，未公开披露、无第三方交叉验证，仅作内部对照，不与第三方监测数据混排。斜纹柱为本报告派生指标（浏览量＝DAU×人均IPV；每轮产出＝人均IPV÷人均对话轮次）。三点可比性限制：①两侧入口曝光机制不同，DAU意图强度不一致；②淘宝侧用户可绕过AI链路直达商品，归因规则可能低估其IPV（即便低估2~3倍，深度差距仍为约3~4.5倍）；③IPV为日度、轮次为会话内均值，相除为近似量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· 站内AI导购实测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内部口径实测与派生指标：淘宝侧DAU为千问侧的11.63倍，有效商品浏览量仅为1.28倍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AI电商行业研究报告｜v3.2｜数据截至2026-07｜第16页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7280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737360"/>
                <a:gridCol w="2834640"/>
              </a:tblGrid>
              <a:tr h="4206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淘宝AI导购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千问电商场景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倍数（千问÷淘宝）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口径定义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DAU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500万人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43万人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0.09×（淘宝为千问11.63倍）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使用该功能／触发电商场景的去重日活跃用户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人均IPV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0.11次/人·日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1.00次/人·日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约9倍（见精度提示）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每使用用户日均经该链路产生的商品详情页浏览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人均对话轮次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1.3轮/会话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2.8轮/会话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≈2.15×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单次会话内平均对话轮数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次日留存率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10%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12%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≈1.20×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首次使用后D+1回访并再次使用的占比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7日回访率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30%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33%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≈1.10×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7日窗口内至少回访一次的占比（口径已校正）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派生：每轮对话产出（关键）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0.085次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0.357次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≈4.22×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人均IPV ÷ 人均对话轮次；差距落在交互层，是本报告首要指标的依据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派生：日均有效商品浏览量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55万次/日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43万次/日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≈0.78×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DAU × 人均IPV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857875"/>
            <a:ext cx="10881360" cy="49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读法：DAU与人均IPV的两组倍数方向相反、量级相近，几近相互抵消，乘积为0.78×（二者不是倒数关系，0.09的倒数为11.11）；真正提供额外信息的是「每轮对话产出」。口径校正：原始表述为「7日留存」，但单日留存单调不增、不可能高于次日留存，故判定为7日回访率。精度提示：千问IPV为整数1.00，倍数一律按「约9倍量级」引用。可比性限制：①两侧入口曝光机制不同，DAU意图强度不一致；②淘宝侧用户可绕过AI链路直达商品，归因规则可能低估其IPV（即便低估2~3倍，深度差距仍为约3~4.5倍）；③IPV为日度、轮次为会话内均值，相除为近似量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· 情景测算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图8  情景测算：淘宝靠深度与规模双轮，千问几乎全靠规模（两面板共用纵轴；非预测）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AI电商行业研究报告｜v3.2｜数据截至2026-07｜第17页</a:t>
            </a:r>
          </a:p>
        </p:txBody>
      </p:sp>
      <p:pic>
        <p:nvPicPr>
          <p:cNvPr id="6" name="Picture 5" descr="fig08_instore_scenario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07008"/>
            <a:ext cx="11064240" cy="3948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623560"/>
            <a:ext cx="10881360" cy="49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测算方法：日均有效商品浏览量＝DAU×人均IPV，两项按情景假设的年增长倍数逐期复利推演；两面板共用纵轴，柱上标出DAU与IPV两条分项路径。锚点与弱点：①增速收敛系数为设定值（推导限制见图1）；②高增长档借Rufus月活+149%／交互量+210%的量级，属跨口径借用，且两侧乐观档取值不同（×2.00对×3.00）系编制方判断；③深度上限分两侧设定——淘宝侧以千问1.00次为追赶上限（乐观档仅达0.59次），千问侧因已处已实证最高水平设为两年累计不超20%。两层限制：区间跨度5.9倍全部来自流量层假设，衡量的是流量层自身的不确定性；GMV层敞口未纳入，真实不确定性会更大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· 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七点分析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AI电商行业研究报告｜v3.2｜数据截至2026-07｜第18页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01168" indent="0"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● 站外AI引荐的质量指标已反转，但因果性未被证明，增速窗口正在关闭</a:t>
            </a:r>
          </a:p>
          <a:p>
            <a:pPr algn="l" marL="402336" indent="0">
              <a:spcAft>
                <a:spcPts val="652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转化率由−38%转为+42%是过去一年最实质的变化；但这是渠道间观察性对比，同期渠道流量大幅扩张（Q1对Q1定基指数100→493即4.93倍，3月对3月约3.7倍）、访客构成必然迁移，归因无法从公开数据分离。增速已由+1151%回落至+269%，且窄口径预测（美国2026年约206亿美元）的实现路径已因Instant Checkout下线而改变。处方：低成本占位与监测，而不是按外推规模做重投入</a:t>
            </a:r>
          </a:p>
          <a:p>
            <a:pPr algn="l" marL="201168" indent="0"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● 「对话内代结账」已历明确失败，行业已收敛到分工方案</a:t>
            </a:r>
          </a:p>
          <a:p>
            <a:pPr algn="l" marL="402336" indent="0">
              <a:spcAft>
                <a:spcPts val="652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Instant Checkout约5个月、峰值约12至30家商家收场；替代方案与UCP协议设计均把Merchant of Record留给商家。证据涉及四个主体、三类性质（产品决策／协议设计／司法判定），其中司法判定的独立性最强</a:t>
            </a:r>
          </a:p>
          <a:p>
            <a:pPr algn="l" marL="201168" indent="0"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● 站内AI导购在「个体层相对效果」构造上只有一个公开数据点</a:t>
            </a:r>
          </a:p>
          <a:p>
            <a:pPr algn="l" marL="402336" indent="0">
              <a:spcAft>
                <a:spcPts val="652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图9面板①只有Rufus「+60%完成率」一根柱。Salesforce企业分组与Adobe／Shopify渠道数据分属另两种对照构造；亚马逊的「增量年化销售近120亿美元」为绝对额且归因方法未完整披露，不可跨案例比较，也不能替代相对效果证据</a:t>
            </a:r>
          </a:p>
          <a:p>
            <a:pPr algn="l" marL="201168" indent="0"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● 差距落在交互层而非用户层，两个竞争性解释需用分层实验区分</a:t>
            </a:r>
          </a:p>
          <a:p>
            <a:pPr algn="l" marL="402336" indent="0">
              <a:spcAft>
                <a:spcPts val="652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留存差1.10至1.20倍，而每轮对话产出差4.22倍（0.085对0.357次）。解释A产品形态（淘宝侧1.3轮、每轮0.085次，与「单轮问答后结束」形态一致）；解释B意图构成（淘宝侧DAU含入口曝光触发的低意图使用）。报告倾向A为主因——差距集中在交互层指标而非用户层指标；证伪条件见下页</a:t>
            </a:r>
          </a:p>
          <a:p>
            <a:pPr algn="l" marL="201168" indent="0"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● 两条提升路径的成本结构不同，这在成本约束下直接决定优先级</a:t>
            </a:r>
          </a:p>
          <a:p>
            <a:pPr algn="l" marL="402336" indent="0">
              <a:spcAft>
                <a:spcPts val="652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路径A提高每轮产出：轮次仍1.3轮、推理成本近似不变、人均IPV达0.46次；路径B增加轮次：轮次至2.8轮、推理成本约为原2.15倍、人均IPV仅0.24次。A的指标增益为B的约2.8倍，按单位推理成本计效率约6倍。绝对成本水平需业务方补token单价，本报告不做估计</a:t>
            </a:r>
          </a:p>
          <a:p>
            <a:pPr algn="l" marL="201168" indent="0"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● 所有可得的公开效果数据都是观察性的，且分属三种对照构造</a:t>
            </a:r>
          </a:p>
          <a:p>
            <a:pPr algn="l" marL="402336" indent="0">
              <a:spcAft>
                <a:spcPts val="652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使用者对未使用者（Rufus）、AI渠道对非AI渠道（Adobe／Shopify）、企业分组（Salesforce）——图9按此分面板。可确认方向，不能测算收益</a:t>
            </a:r>
          </a:p>
          <a:p>
            <a:pPr algn="l" marL="201168" indent="0"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● 规模判断有两层不确定性，且都未被压缩</a:t>
            </a:r>
          </a:p>
          <a:p>
            <a:pPr algn="l" marL="402336" indent="0">
              <a:spcAft>
                <a:spcPts val="652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第一层在流量本身：2028年中淘宝侧区间160万至950万次／日（跨度5.9倍），全部来自DAU与IPV两个假设；第二层在流量之后：转化率与客单价无实测值、未纳入测算，因此真实GMV不确定性会大于5.9倍。压缩顺序应是先测转化率与客单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· 建议 1／3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建议一：把人均IPV设为首要指标，切入点是「每轮对话产出」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AI电商行业研究报告｜v3.2｜数据截至2026-07｜第19页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可达空间对比（注意：不是边际弹性对比）</a:t>
            </a:r>
          </a:p>
          <a:p>
            <a:pPr algn="l" marL="402336" indent="0">
              <a:spcAft>
                <a:spcPts val="2905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DAU保持500万不变、人均IPV由0.11提至1.00 → 有效浏览量55万增至500万次／日；而人均IPV不变、DAU翻倍至1000万 → 仅110万次。前提说明：浏览量＝DAU×IPV是乘积式，两因子边际弹性恒等；上述落差来自「可达空间」不同——IPV有千问已实证的1.00次上限可追赶，而DAU曝光位已接近饱和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更优先的切入点是「每轮对话产出」而非「对话轮次」</a:t>
            </a:r>
          </a:p>
          <a:p>
            <a:pPr algn="l" marL="402336" indent="0">
              <a:spcAft>
                <a:spcPts val="2905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淘宝侧每轮产出0.085次，约12轮才带来1次商品详情页浏览；千问侧0.357次，约2.8轮即产出1次。若淘宝侧在轮次不变（1.3轮）下把每轮产出提到千问水平，人均IPV由0.11升至0.46次、有效浏览量增至232万次／日（4.22倍）——不依赖用户愿意多聊，因而更可控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阶段目标（两种DAU基准并列，避免执行时口径混淆）</a:t>
            </a:r>
          </a:p>
          <a:p>
            <a:pPr algn="l" marL="402336" indent="0">
              <a:spcAft>
                <a:spcPts val="2905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12个月 IPV 0.22次 → DAU不变110万次／日，DAU按中性档800万则176万次／日；24个月 IPV 0.35次 → DAU不变175万次／日，DAU按中性档1080万则380万次／日；1.00次为长期追赶参照而非期限目标（乐观档2028年中也只达0.59次）。考核以人均IPV为准，浏览量为观察指标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落地动作与过程验收指标（用于区分「形态假说错」与「改造没做到」）</a:t>
            </a:r>
          </a:p>
          <a:p>
            <a:pPr algn="l" marL="402336" indent="0">
              <a:spcAft>
                <a:spcPts val="2905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答案页内直接给出可加购商品对象 → 带可加购对象的回答占比≥80%；为每轮对话设计明确下一步动作 → 给出下一步动作的回答占比≥80%；把「收窄选项」作为对话目标 → 会话中至少曝光1个商品卡的比例≥90%。过程指标未达门槛时，实验结果不得用于证伪判断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证伪条件（采用等价检验形式，而非「未检出显著提升」）</a:t>
            </a:r>
          </a:p>
          <a:p>
            <a:pPr algn="l" marL="402336" indent="0">
              <a:spcAft>
                <a:spcPts val="2905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①过程指标达标前提下，若人均IPV相对提升的「95%置信区间上界低于+30%」，则「瓶颈在产品形态」不成立——以不拒绝原假设作结论在统计上不成立，故须用等价／非劣性检验；②此时按入口来源对DAU分层（主动搜索触发 vs 入口曝光触发）分别计算人均IPV，若主动触发层已接近千问水平，则差距主要来自意图构成，改造重点转为入口位置与触发时机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· 建议 2／3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建议二：随机对照实验的具体参数（约束不是样本量，而是观测窗口）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AI电商行业研究报告｜v3.2｜数据截至2026-07｜第20页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06240"/>
                <a:gridCol w="4663440"/>
              </a:tblGrid>
              <a:tr h="34465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要素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设定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主指标1（二值）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会话内进入商品详情页的用户占比，基线约10%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以人均IPV 0.11次／人·日近似推得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主指标1的MDE与检验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相对提升20%（10%→12%）；α＝0.05双侧，检验力80%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低于此幅度的改动不值得放量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主指标1每组样本量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约3840人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n ≈ 2(z₀.₉₇₅+z₀.₈)²·p̄(1−p̄)/δ² ＝ 2×7.85×0.11×0.89÷0.02²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主指标2（计数）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人均IPV，用于证伪判据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计数型指标须按过散布（负二项）模型另算样本量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主指标2的待补输入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过散布参数k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k未知前无法给出样本量；建议先用两周历史分流数据估计k。这是当前实验设计唯一尚缺的输入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分流与积累时长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1%分流（每组约2.5万人／日）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主指标1不足一日即达样本量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观测窗口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≥14日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次级指标（7日回访率）需覆盖至少一个完整回访周期——这才是真正的约束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护栏指标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客诉率相对提升的95%CI上界 ≤ +10%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采用非劣性边界；「高于基线即不放量」在随机波动下等价于「大概率不放量」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次级指标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7日回访率、人均对话轮次、单会话推理成本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后者用于校验「提高每轮产出成本中性」这一假设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多重性策略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门控式：先检主指标1，通过后才检主指标2；两者各用α＝0.05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避免双主指标各自双侧检验抬高族系错误率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决策规则与冲突裁决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过程指标达标 且 主指标1达MDE 且 护栏未越界 → 放量。若同时出现「主指标2的95%CI上界＜+30%」，「以证伪判据优先」：先转入分层检验判明成因，再决定是否放量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避免放量一个形态假说刚被证伪的改动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34466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护栏的检验力约束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客诉率基线需业务方提供；若基线率低于0.5%，1%分流×14日的样本量不足以对+10%边界定功，此时护栏应改为「绝对增量不超过X件/日」的运营阈值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低频事件的非劣性检验需更大样本，须先确认基线率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023610"/>
            <a:ext cx="10881360" cy="3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三项口径动作有先后：「先定归因规则，再切换首要指标」——在归因规则未定的情况下切换考核指标，等于用不可比的口径做考核。①统一「7日回访率」与「7日留存率」的命名定义；②明确AI链路商品浏览的归因规则（绕过AI链路直达是否计入）；③用同一实验框架同时测出详情页转化率与客单价后，再与情景测算相乘，拒绝三层假设直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第一章　市场变化与预测 · 建议 3／3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建议三至五：交易主权、被推荐率监测、测算止于流量层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AI电商行业研究报告｜v3.2｜数据截至2026-07｜第21页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01168" indent="0">
              <a:spcAft>
                <a:spcPts val="200"/>
              </a:spcAft>
            </a:pP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</a:rPr>
              <a:t>● 三、交易环节不外让</a:t>
            </a:r>
          </a:p>
          <a:p>
            <a:pPr algn="l" marL="402336" indent="0">
              <a:spcAft>
                <a:spcPts val="4600"/>
              </a:spcAft>
            </a:pPr>
            <a:r>
              <a:rPr sz="1130" b="0">
                <a:solidFill>
                  <a:srgbClr val="6B7280"/>
                </a:solidFill>
                <a:latin typeface="Microsoft YaHei"/>
                <a:ea typeface="Microsoft YaHei"/>
              </a:rPr>
              <a:t>与外部通用AI入口合作采用「AI发现＋自有结账」，保持Merchant of Record身份与会员、售后归属。证据涉及四个主体、三类性质：OpenAI（Instant Checkout下线并改为零售商应用｜产品决策）、Google（UCP保留商家MoR｜协议设计）、Shopify（Agentic Storefronts把结账留在商家店铺｜协议设计）、加州北区联邦法院（Amazon诉Perplexity初步禁令｜司法判定）</a:t>
            </a:r>
          </a:p>
          <a:p>
            <a:pPr algn="l" marL="201168" indent="0">
              <a:spcAft>
                <a:spcPts val="200"/>
              </a:spcAft>
            </a:pP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</a:rPr>
              <a:t>● 四、以「被推荐率」监测替代「渠道规模」监测：低成本占位，不按外推规模重投入</a:t>
            </a:r>
          </a:p>
          <a:p>
            <a:pPr algn="l" marL="402336" indent="0">
              <a:spcAft>
                <a:spcPts val="4600"/>
              </a:spcAft>
            </a:pPr>
            <a:r>
              <a:rPr sz="1130" b="0">
                <a:solidFill>
                  <a:srgbClr val="6B7280"/>
                </a:solidFill>
                <a:latin typeface="Microsoft YaHei"/>
                <a:ea typeface="Microsoft YaHei"/>
              </a:rPr>
              <a:t>查询集：GMV前20品类各15条自然语言购物查询（合计300条），覆盖品类词、场景词、价格约束三类句式；入口：豆包、千问、元宝、ChatGPT、Gemini；站外AI引荐的质量指标已反转但因果性未证明、增速放缓；本报告未取得AI引荐占零售总访问的份额，故不对基数高低下判断——此阶段的合理姿态是低成本占位与监测，而不是按外推规模做重投入。查询集：GMV前20品类各15条（合计300条），覆盖品类词、场景词、价格约束三类句式；入口：豆包、千问、元宝、ChatGPT、Gemini；频率：月度且查询集固定不变（新增查询单独建集，避免漂移污染趋势）；指标：被推荐率与被平替率；基线：首月结果即为基线；触发动作：被平替率环比升超5个百分点时回溯该品类feed完成度。配套投入是商品数据结构化与协议接入——跨协议可迁移的资产，单一平台的接入工作则不是</a:t>
            </a:r>
          </a:p>
          <a:p>
            <a:pPr algn="l" marL="201168" indent="0">
              <a:spcAft>
                <a:spcPts val="200"/>
              </a:spcAft>
            </a:pP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</a:rPr>
              <a:t>● 五、规模测算止于流量层，转化率与客单价先实测再折算</a:t>
            </a:r>
          </a:p>
          <a:p>
            <a:pPr algn="l" marL="402336" indent="0">
              <a:spcAft>
                <a:spcPts val="4600"/>
              </a:spcAft>
            </a:pPr>
            <a:r>
              <a:rPr sz="1130" b="0">
                <a:solidFill>
                  <a:srgbClr val="6B7280"/>
                </a:solidFill>
                <a:latin typeface="Microsoft YaHei"/>
                <a:ea typeface="Microsoft YaHei"/>
              </a:rPr>
              <a:t>拒绝「流量假设×转化率假设×客单价假设」的乘积；用建议二的实验框架同时测出AI链路的详情页转化率与客单价，再与情景测算结果相乘，得到有实测支撑的GMV区间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第二章　主要业务模式分析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模式分类框架：三个维度共8格，现实占据5格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AI电商行业研究报告｜v3.2｜数据截至2026-07｜第22页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88136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737360"/>
                <a:gridCol w="1280160"/>
                <a:gridCol w="1554480"/>
                <a:gridCol w="1371600"/>
                <a:gridCol w="3291840"/>
                <a:gridCol w="1097280"/>
              </a:tblGrid>
              <a:tr h="42062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编号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模式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结账界面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Merchant of Record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入口与交易主体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代表案例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现状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M1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通用AI代结账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AI侧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AI平台／协议方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跨主体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ChatGPT Instant Checkout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已下线（2026-03）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通用AI内的商家应用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AI侧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商家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跨主体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ChatGPT零售商应用、Shopify Agentic Storefronts、UCP原生结账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扩张中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M3a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通用AI导流跳转（用户本人下单）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商家侧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商家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跨主体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Perplexity联盟分佣、元宝×京东、UCP嵌入式结账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常态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M3b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第三方代理代为下单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商家侧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商家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跨主体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Perplexity Comet代理在他方站内下单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未获授权者受禁令限制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M4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生态内垂直闭环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AI侧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集团内电商主体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同一集团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豆包×抖音电商、千问×淘宝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国内主流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站内自有AI导购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商家侧（自有）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自有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同一主体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Amazon Rufus、淘宝AI导购、Instacart Cart Assistant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效果最可验证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三个空缺组合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商家侧／AI侧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AI平台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跨主体／同集团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①商家侧结账＋AI平台为MoR：结算权责与退款责任矛盾；②同集团内MoR归属无对外区分意义（实质等同M4）；③同时具备两项矛盾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不存在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857875"/>
            <a:ext cx="10881360" cy="49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判定规则：「结账界面在哪一侧」以渲染结账页的宿主应用为准（ChatGPT内零售商应用＝AI侧；元宝跳转微信内京东小程序＝商家侧）。M3拆为a／b的理由：三主维度无法区分「AI给商品卡、用户自己下单」与「AI代理登录账号下单」，二者同格但法律与商业后果截然不同，故引入第四维度——下单动作执行方及是否经授权（只在M3内部分化，以子编号处理）。判别价值：M1与M2的结账界面位置相同，差别只在MoR归属——这一处差别决定了M1退场、M2扩张；M4与M2的区别在第三维度，同集团内无真正谈判与数据让渡，故落地更快但比价中立性更受限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第二章　主要业务模式分析 · 通用AI案例 1／2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海外三家：一次失败、两条路线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AI电商行业研究报告｜v3.2｜数据截至2026-07｜第23页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01168" indent="0">
              <a:spcAft>
                <a:spcPts val="200"/>
              </a:spcAft>
            </a:pP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</a:rPr>
              <a:t>● OpenAI／ChatGPT（M1→M2）　周活跃用户约8.5亿；购物相关查询日均约5000万条</a:t>
            </a:r>
          </a:p>
          <a:p>
            <a:pPr algn="l" marL="402336" indent="0">
              <a:spcAft>
                <a:spcPts val="4600"/>
              </a:spcAft>
            </a:pPr>
            <a:r>
              <a:rPr sz="1130" b="0">
                <a:solidFill>
                  <a:srgbClr val="6B7280"/>
                </a:solidFill>
                <a:latin typeface="Microsoft YaHei"/>
                <a:ea typeface="Microsoft YaHei"/>
              </a:rPr>
              <a:t>代结账的完整试错样本：2025-09-29上线 → 2026-03-05下线，峰值商家约12至30家、首月试用约8%。2026-03下旬改为商家自运营结账的零售商应用，ACP协议保留。变现约4%佣金＋通道费。启示：判断一条路径先看它要求商家让渡什么——要求让渡Merchant of Record的方案，商家侧供给起不来</a:t>
            </a:r>
          </a:p>
          <a:p>
            <a:pPr algn="l" marL="201168" indent="0">
              <a:spcAft>
                <a:spcPts val="200"/>
              </a:spcAft>
            </a:pP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</a:rPr>
              <a:t>● Google／Gemini与AI Mode（M2＋M3）　Gemini月活跃用户约6.5亿</a:t>
            </a:r>
          </a:p>
          <a:p>
            <a:pPr algn="l" marL="402336" indent="0">
              <a:spcAft>
                <a:spcPts val="4600"/>
              </a:spcAft>
            </a:pPr>
            <a:r>
              <a:rPr sz="1130" b="0">
                <a:solidFill>
                  <a:srgbClr val="6B7280"/>
                </a:solidFill>
                <a:latin typeface="Microsoft YaHei"/>
                <a:ea typeface="Microsoft YaHei"/>
              </a:rPr>
              <a:t>UCP开放标准，与AP2／A2A／MCP互通。关键设计：商家保持Merchant of Record；两条路径——原生结账（在Google的AI界面完成）与嵌入式结账（商家保留自定义流程）。门槛为Merchant Center账号＋商品级 native_commerce 属性标记。2026-03更新，新增购物车与商品目录能力；结账限美加澳合格商家早期访问</a:t>
            </a:r>
          </a:p>
          <a:p>
            <a:pPr algn="l" marL="201168" indent="0">
              <a:spcAft>
                <a:spcPts val="200"/>
              </a:spcAft>
            </a:pP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</a:rPr>
              <a:t>● Perplexity（M3）　月活跃用户约0.3至0.45亿；联盟分佣＋Comet浏览器代理</a:t>
            </a:r>
          </a:p>
          <a:p>
            <a:pPr algn="l" marL="402336" indent="0">
              <a:spcAft>
                <a:spcPts val="4600"/>
              </a:spcAft>
            </a:pPr>
            <a:r>
              <a:rPr sz="1130" b="0">
                <a:solidFill>
                  <a:srgbClr val="6B7280"/>
                </a:solidFill>
                <a:latin typeface="Microsoft YaHei"/>
                <a:ea typeface="Microsoft YaHei"/>
              </a:rPr>
              <a:t>第三方代理路径的法律边界：2025-11-04亚马逊在加州北区联邦法院起诉，主张违反CFAA及加州计算机数据访问与欺诈法，指其将代理伪装为Chrome、未透明标识自动化活动、绕过技术屏蔽访问用户账户；2026-03法院授予初步禁令。这是「协议合作」与「代理绕行」两条路线的分水岭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第二章　主要业务模式分析 · 通用AI案例 2／2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国内三家：同一模式下的两种交互取向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AI电商行业研究报告｜v3.2｜数据截至2026-07｜第24页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01168" indent="0">
              <a:spcAft>
                <a:spcPts val="200"/>
              </a:spcAft>
            </a:pP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</a:rPr>
              <a:t>● 豆包×抖音电商（M4）　月活跃用户3.83亿（QuestMobile 2026-06）　交互取向：代理型</a:t>
            </a:r>
          </a:p>
          <a:p>
            <a:pPr algn="l" marL="402336" indent="0">
              <a:spcAft>
                <a:spcPts val="4600"/>
              </a:spcAft>
            </a:pPr>
            <a:r>
              <a:rPr sz="1130" b="0">
                <a:solidFill>
                  <a:srgbClr val="6B7280"/>
                </a:solidFill>
                <a:latin typeface="Microsoft YaHei"/>
                <a:ea typeface="Microsoft YaHei"/>
              </a:rPr>
              <a:t>2025-10接入抖音商城，2026-04起无需离开App即可完成需求表达到支付下单，2026-05上线「帮你选」全链路打通。交易结构：下单支付在豆包内，商品详情、交易系统与售后履约由抖音电商承接（千问回应媒体时的表述，属竞对口径）。局限：不支持全网实时比价，跳转基本只到抖音商城，比价结果不带可点击链接；推荐依据对用户不可见</a:t>
            </a:r>
          </a:p>
          <a:p>
            <a:pPr algn="l" marL="201168" indent="0">
              <a:spcAft>
                <a:spcPts val="200"/>
              </a:spcAft>
            </a:pP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</a:rPr>
              <a:t>● 千问×淘宝（M4）　月活跃用户1.66亿（QuestMobile）　交互取向：导购型</a:t>
            </a:r>
          </a:p>
          <a:p>
            <a:pPr algn="l" marL="402336" indent="0">
              <a:spcAft>
                <a:spcPts val="4600"/>
              </a:spcAft>
            </a:pPr>
            <a:r>
              <a:rPr sz="1130" b="0">
                <a:solidFill>
                  <a:srgbClr val="6B7280"/>
                </a:solidFill>
                <a:latin typeface="Microsoft YaHei"/>
                <a:ea typeface="Microsoft YaHei"/>
              </a:rPr>
              <a:t>2026-05-11全面打通：千问App内完成淘宝商品挑选／对比／下单；淘宝App「消息」栏上线「千问AI购物助手」，提供AI问答、AI试穿、AI算优惠、AI低价帮抢及一句话下单／帮抢／退换货。此前已接入淘宝闪购、飞猪、高德、支付宝。局限：尚不支持跨平台全网实时比价。内部口径实测：电商场景DAU 43万、人均IPV 1.00次、人均2.8轮</a:t>
            </a:r>
          </a:p>
          <a:p>
            <a:pPr algn="l" marL="201168" indent="0">
              <a:spcAft>
                <a:spcPts val="200"/>
              </a:spcAft>
            </a:pP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</a:rPr>
              <a:t>● 元宝×京东（M3）　用户规模不列示（无权威披露）</a:t>
            </a:r>
          </a:p>
          <a:p>
            <a:pPr algn="l" marL="402336" indent="0">
              <a:spcAft>
                <a:spcPts val="4600"/>
              </a:spcAft>
            </a:pPr>
            <a:r>
              <a:rPr sz="1130" b="0">
                <a:solidFill>
                  <a:srgbClr val="6B7280"/>
                </a:solidFill>
                <a:latin typeface="Microsoft YaHei"/>
                <a:ea typeface="Microsoft YaHei"/>
              </a:rPr>
              <a:t>对话中输出商品卡，跳转京东小程序成交，交易与履约留在京东。国内唯一跨集团联盟样本：优势是双方无需让渡核心资产、谈判门槛低；代价是跳转体验断层、责任边界与分佣需持续谈判。小程序生态在国内事实上承担了ACP／UCP在海外的角色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第二章　主要业务模式分析 · 通用AI案例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六家横向对照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AI电商行业研究报告｜v3.2｜数据截至2026-07｜第25页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7280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  <a:gridCol w="1188720"/>
                <a:gridCol w="1737360"/>
                <a:gridCol w="1737360"/>
                <a:gridCol w="1737360"/>
                <a:gridCol w="1828800"/>
              </a:tblGrid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案例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模式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能力级别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入口规模（口径）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交易归属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变现机制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主要约束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ChatGPT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M1→M2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A3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8.5亿周活跃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曾为平台，现为商家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约4%佣金＋通道费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代结账已证伪；改走商家应用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Gemini／AI Mode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M2＋M3a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A3／A2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6.5亿月活跃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商家（保留MoR）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未公开结账佣金安排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早期访问限美加澳；需Merchant Center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Perplexity（联盟）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M3a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A2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0.3～0.45亿月活跃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商家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联盟分佣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变现率低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Perplexity（Comet代理）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M3b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A4／A5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同上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商家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同上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未获授权者受禁令限制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豆包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M4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A3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3.83亿月活跃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抖音电商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生态内归因结算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不支持跨平台实时比价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千问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A3（部分A4）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1.66亿月活跃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淘宝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生态内归因结算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同上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元宝×京东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M3a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A2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不列示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京东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未公开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跳转体验断层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89345"/>
            <a:ext cx="10881360" cy="165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交叉观察：同为A3（对话内闭环），M1已退场而M2、M4在扩张——能力级别相同而交易结构不同，结果完全不同。口径提示：周活跃与月活跃并存，不可直接横向比较，仅作量级对照；元宝因无权威披露不列数值。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第二章　主要业务模式分析 · 零售商自有AI导购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Amazon Rufus：目前效果证据最完整的样本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AI电商行业研究报告｜v3.2｜数据截至2026-07｜第26页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7280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011680"/>
                <a:gridCol w="2651760"/>
                <a:gridCol w="4389120"/>
              </a:tblGrid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2025Q3披露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2025Q4／全年披露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口径与说明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累计使用用户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2.5亿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超3亿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年度累计使用用户，非月活；该口径天然大于同等活跃度产品的月活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月活跃用户同比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+149%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规模增长类指标，非效果指标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交互量同比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+210%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交互次数口径，与用户数口径不同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增量年化销售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约100亿美元（年化节奏）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近120亿美元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incremental口径，试图剔除「本来也会发生」的购买；归因方法未经官方完整披露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使用者购买完成率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约高60%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对照构造为「使用者对未使用者」，观察性对比、含自选择偏差；本报告统一标注来源为2025Q4财报电话会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能力演进（A1→A4）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2024-02美国App内beta；2024-07全量美国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2025年累计超50项升级；2026-02定位为「the AI agent」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升级含账户记忆、盯价自动购买、视觉搜索、Buy for Me跨站代购；沿既有账户与支付关系推进，不需新建信任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战略配套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2025-11起诉Perplexity，2026-03获初步禁令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自建站内代理（M5）与排除未授权外部代理（M3b）是同一战略的两面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89345"/>
            <a:ext cx="10881360" cy="165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数据等级P2（公司口径，来自亚马逊2025Q3／Q4财报电话会）。两处归因局限与四条待验证假设见下一页；分口径效果对照见第27页图9。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第二章　主要业务模式分析 · 零售商自有AI导购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图9  站内AI导购在「个体层相对效果」构造上只有一个公开数据点（面板①）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AI电商行业研究报告｜v3.2｜数据截至2026-07｜第27页</a:t>
            </a:r>
          </a:p>
        </p:txBody>
      </p:sp>
      <p:pic>
        <p:nvPicPr>
          <p:cNvPr id="6" name="Picture 5" descr="fig09_effect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07008"/>
            <a:ext cx="11064240" cy="34311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857875"/>
            <a:ext cx="10881360" cy="49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数据来源：亚马逊2025Q4财报电话会（Rufus三项，公司口径P2）；Adobe Digital Insights（2026-03转化与RPV、2026Q1流量增速，P1）；Shopify公开披露（2026-05，P2）。关键口径：按对照组构造分面板——面板①为「使用者对未使用者」（个体层），面板②为「AI渠道对非AI渠道」（渠道层，内含转化率与单次访问收入两类被测量），面板③为同比增速。三面板之间不可合并为单一区间；全部数值均为观察性对比，应视为相关性上限。Salesforce的企业分组数据属第三种对照构造，未纳入本图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第二章　主要业务模式分析 · 零售商自有AI导购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Rufus：两处归因局限与四条待验证的可迁移假设（样本量为1）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AI电商行业研究报告｜v3.2｜数据截至2026-07｜第28页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局限一：「增量年化销售」是incremental口径，归因方法未经官方完整披露</a:t>
            </a:r>
          </a:p>
          <a:p>
            <a:pPr algn="l" marL="402336" indent="0">
              <a:spcAft>
                <a:spcPts val="2354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亚马逊试图剔除「本来也会发生」的购买。第三方分析指出其采用7日滚动归因窗口的「下游影响」方法，按对话主题与最终购买的语义相关性分配部分权重，并以无Rufus访问权限的相似用户构造对照组——该描述未获亚马逊确认，引用时应标注为公司口径估算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局限二：「购买完成率高约60%」为观察性对比，存在自选择偏差</a:t>
            </a:r>
          </a:p>
          <a:p>
            <a:pPr algn="l" marL="402336" indent="0">
              <a:spcAft>
                <a:spcPts val="2354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主动使用AI导购工具的用户购买意向本就更强；在缺少随机对照实验的情况下，该数值应视为相关性上限，而非Rufus的因果效应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假设一：嵌入既有动线优于新建独立入口</a:t>
            </a:r>
          </a:p>
          <a:p>
            <a:pPr algn="l" marL="402336" indent="0">
              <a:spcAft>
                <a:spcPts val="2354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Rufus嵌入搜索与商品详情页而非独立标签页，一年内触达3亿用户。这是与快速触达相一致的设计选择，「不是已证明的因果原因」——样本量为1、无反事实，且Rufus位于全美最大电商App内，3亿中有多少来自母体流量无法区分。证伪：同App内独立入口对嵌入式入口分流，若触达率差异不足30%则假设不成立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假设二：答案内直接给出可交易对象优于仅给文字建议</a:t>
            </a:r>
          </a:p>
          <a:p>
            <a:pPr algn="l" marL="402336" indent="0">
              <a:spcAft>
                <a:spcPts val="2354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Rufus回答中直接呈现商品；与第一章关于每轮对话产出的分析同向。证伪：即建议一的证伪条件（人均IPV相对提升的95%CI上界低于+30%）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假设三与假设四：复用自有语料；沿既有账户关系升级能力</a:t>
            </a:r>
          </a:p>
          <a:p>
            <a:pPr algn="l" marL="402336" indent="0">
              <a:spcAft>
                <a:spcPts val="2354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商品评论与问答语料为站内独有，站外通用AI难以等量获得——证伪：盲测中屏蔽自有评论语料后，答案采纳率下降不足10%则假设不成立。能力由A1问答演进至A4授权代理，沿用户既有账户与支付关系推进——证伪：A4授权开启率与「是否已有支付绑定」无显著相关（95%CI含0）则假设不成立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战略配套：自建站内代理与排除未授权外部代理是同一战略的两面</a:t>
            </a:r>
          </a:p>
          <a:p>
            <a:pPr algn="l" marL="402336" indent="0">
              <a:spcAft>
                <a:spcPts val="2354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亚马逊在自建Rufus的同期以法律手段限制外部代理进入自有交易场（2025-11起诉Perplexity，2026-03获初步禁令）：前者保留决策影响力，后者保留交易与用户关系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第二章　主要业务模式分析 · 零售商自有AI导购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其他站内案例与未采纳数据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AI电商行业研究报告｜v3.2｜数据截至2026-07｜第29页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72799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120640"/>
                <a:gridCol w="3749039"/>
              </a:tblGrid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对象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状态与要点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处理方式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Instacart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Ask Instacart／Cart Assistant覆盖膳食规划与对话建车；企业级白标输出给Kroger、Sprouts等；2026-03起为ChatGPT零售商应用首批合作方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同走M5与M2，并把导购能力SaaS化——低毛利业态摊薄研发与推理成本的现实路径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淘宝站内AI导购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2025-08 AI万能搜全量；2026-05上线千问AI购物助手（试穿、算优惠、帮抢、一句话下单／退换货）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入口曝光已把DAU做到千问电商场景的11.63倍，但有效商品浏览量仅为其1.28倍——规模已解决，深度未解决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Shopify Agentic Storefronts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2026-03推出，默认为商家开启，买家可在ChatGPT内发现商品并完成购买，商家保留Merchant of Record与结账流程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归入M2，作为协议扩张的证据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Target等零售商／Kroger、Sprouts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前者以应用形式接入ChatGPT，交易在商家侧完成；后者采用Instacart白标能力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有模式无公开量化效果，仅记录模式不列数据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拼多多AI搜索、快手AI购物助手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2026年5至6月上线，无任何量化披露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记录模式进展，不列数据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京东京言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自报运营数据未通过置信度门槛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不列示，见附录B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89345"/>
            <a:ext cx="10881360" cy="165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处理规则：模式进展可记录，量化数据须达到P1或P2等级方可列示。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第二章　主要业务模式分析 · 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七条经验（1／2）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AI电商行业研究报告｜v3.2｜数据截至2026-07｜第30页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一、交易主权是目前证据最充分的结论，但需如实说明其独立性程度</a:t>
            </a:r>
          </a:p>
          <a:p>
            <a:pPr algn="l" marL="402336" indent="0">
              <a:spcAft>
                <a:spcPts val="438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涉及四个主体、三类性质：OpenAI（Instant Checkout约5个月、峰值约12至30家商家收场，并改为商家自运营结账的零售商应用｜产品决策）；Google（UCP协议保留商家MoR｜协议设计）；Shopify（Agentic Storefronts把结账留在商家店铺｜协议设计）；加州北区联邦法院（Amazon诉Perplexity初步禁令｜司法判定）。独立性说明：下线与替代方案属同一次转向、不计两条；Shopify方案运行于ChatGPT内，独立性弱于UCP与司法判定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二、决定成败的是交易结构，不是AI能力级别</a:t>
            </a:r>
          </a:p>
          <a:p>
            <a:pPr algn="l" marL="402336" indent="0">
              <a:spcAft>
                <a:spcPts val="438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M1与M2、M4同为A3对话内闭环，但M1退场、M2与M4扩张，差别只在MoR归属与主体关系；M3a与M3b能力级别不同却同处一格，区分它们的是「下单动作由谁执行、是否经授权」。证伪条件：若2027年底前出现一个M1类产品在单一市场取得10%以上头部商家接入率，则该判断不成立（当前该数字为0）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三、规模由入口位置决定，价值由交互层设计决定</a:t>
            </a:r>
          </a:p>
          <a:p>
            <a:pPr algn="l" marL="402336" indent="0">
              <a:spcAft>
                <a:spcPts val="438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高流量App显著位置可快速获得DAU（淘宝侧500万），但不能自动获得商品决策行为（每轮对话产出0.085次）；用户主动触发的场景规模小（43万）但每轮产出高（0.357次）。意图强度与产品形态的相对贡献需通过分层实验区分（证伪条件见第19页）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四、站内AI导购在「个体层相对效果」构造上只有一个公开数据点，且是观察性的</a:t>
            </a:r>
          </a:p>
          <a:p>
            <a:pPr algn="l" marL="402336" indent="0">
              <a:spcAft>
                <a:spcPts val="438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图9面板①只有Rufus一根柱。Salesforce企业分组与Adobe／Shopify渠道数据分属另两种对照构造；亚马逊另披露的「增量年化销售近120亿美元」为绝对额且归因方法未完整披露，不可跨案例比较，也不能替代相对效果证据。建立随机对照实验能力不是可选项，而是获得可决策数字的唯一途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第二章　主要业务模式分析 · 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七条经验（2／2）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AI电商行业研究报告｜v3.2｜数据截至2026-07｜第31页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01168" indent="0">
              <a:spcAft>
                <a:spcPts val="200"/>
              </a:spcAft>
            </a:pP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</a:rPr>
              <a:t>● 五、站内AI导购有四条待验证的可迁移假设（来自Rufus单一案例，样本量为1）</a:t>
            </a:r>
          </a:p>
          <a:p>
            <a:pPr algn="l" marL="402336" indent="0">
              <a:spcAft>
                <a:spcPts val="4600"/>
              </a:spcAft>
            </a:pPr>
            <a:r>
              <a:rPr sz="1130" b="0">
                <a:solidFill>
                  <a:srgbClr val="6B7280"/>
                </a:solidFill>
                <a:latin typeface="Microsoft YaHei"/>
                <a:ea typeface="Microsoft YaHei"/>
              </a:rPr>
              <a:t>嵌入既有动线而非新建独立入口；答案内直接给出可交易对象；复用自有语料（评论、问答）作为质量差异化来源；沿既有账户与支付关系推进能力升级（A1→A4）。四条各附证伪条件（见第28页）；在验证前不应作为「规律」引用</a:t>
            </a:r>
          </a:p>
          <a:p>
            <a:pPr algn="l" marL="201168" indent="0">
              <a:spcAft>
                <a:spcPts val="200"/>
              </a:spcAft>
            </a:pP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</a:rPr>
              <a:t>● 六、当前主流是不直接向用户或商家收费——本报告不断言「变现前置会抑制规模」</a:t>
            </a:r>
          </a:p>
          <a:p>
            <a:pPr algn="l" marL="402336" indent="0">
              <a:spcAft>
                <a:spcPts val="4600"/>
              </a:spcAft>
            </a:pPr>
            <a:r>
              <a:rPr sz="1130" b="0">
                <a:solidFill>
                  <a:srgbClr val="6B7280"/>
                </a:solidFill>
                <a:latin typeface="Microsoft YaHei"/>
                <a:ea typeface="Microsoft YaHei"/>
              </a:rPr>
              <a:t>站内AI导购的价值体现为转化提升与留存，而非独立收入项。站外入口的变现（约4%佣金、联盟分佣、生态内归因结算）仍在探索，规模远小于流量增速所暗示的水平。此处只描述现状：本报告未取得任何「早期变现导致规模受抑」的对照证据，且费率侧证据方向相反——商家的抵触对象是Merchant of Record的让渡，而非费率水平。费率侧的判断：AI渠道总成本约7%~9%低于Amazon市场佣金约15%，对商家净有利；但费率可调、交易关系一旦让出难以收回——拒绝的不是当前费率，而是费率的未来定价权</a:t>
            </a:r>
          </a:p>
          <a:p>
            <a:pPr algn="l" marL="201168" indent="0">
              <a:spcAft>
                <a:spcPts val="200"/>
              </a:spcAft>
            </a:pP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</a:rPr>
              <a:t>● 七、多协议并存推高商家适配成本，可迁移的资产是结构化商品数据</a:t>
            </a:r>
          </a:p>
          <a:p>
            <a:pPr algn="l" marL="402336" indent="0">
              <a:spcAft>
                <a:spcPts val="4600"/>
              </a:spcAft>
            </a:pPr>
            <a:r>
              <a:rPr sz="1130" b="0">
                <a:solidFill>
                  <a:srgbClr val="6B7280"/>
                </a:solidFill>
                <a:latin typeface="Microsoft YaHei"/>
                <a:ea typeface="Microsoft YaHei"/>
              </a:rPr>
              <a:t>ACP、UCP与国内小程序生态并行，逐一适配的成本会持续上升。真正跨协议、跨平台可复用的投入是商品数据结构化与大模型可读性改造；单一平台的接入实现不具备迁移价值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第三章　产业链结构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六层功能切分（按必要性判据）：L1–L4为交易主链，L5–L6为使能层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AI电商行业研究报告｜v3.2｜数据截至2026-07｜第32页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7280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468880"/>
                <a:gridCol w="2834640"/>
                <a:gridCol w="1828800"/>
              </a:tblGrid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层级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职能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国内代表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海外代表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收入模式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L1 模型与算力（主链）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推理与多模态能力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豆包大模型、通义、混元、DeepSeek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OpenAI、Google、Anthropic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API、云捆绑、订阅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L2 入口与流量（主链）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承接购物意图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豆包、千问、元宝；淘宝站内AI导购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ChatGPT、Gemini、Perplexity、Rufus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佣金、归因结算、订阅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L3 商品与交易（主链）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商品池、定价、交易与售后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淘天、京东、抖音电商、拼多多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Amazon、Target、Shopify商家、Etsy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GMV与平台佣金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L4 交易基建（主链）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商务协议与支付信任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小程序生态、支付宝、微信支付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ACP、UCP、AP2、Stripe、Visa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通道费、令牌服务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L5 商家服务（使能）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GEO、SaaS、数字人、监测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GEO服务商；有赞、微盟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Profound、Salesforce Agentforce、Adobe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订阅与咨询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L6 履约供应链AI（使能）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预测、补货、调度、品控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物流与即时零售算法体系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Instacart Store View等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效率带来的成本节约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692140"/>
            <a:ext cx="10881360" cy="662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判据（必要性）：主链＝该环节缺失则这笔交易无法以AI方式完成；使能层＝该环节缺失交易仍可完成，只是效率或被发现概率下降。不采用「是否进入单笔交易资金流」作判据，因其分不开L1与L5（模型算力成本同样不进入单笔结算）。穷尽性检验：对任一笔交易做「移除测试」，依次假设某环节缺失，无法以AI方式完成者属L1–L4，仍可完成者属L5–L6。两处不单列为层的横向切面：①广告与流量变现是L2、L3的收入侧规则（核心矛盾为AI答案位与竞价位冲突）；②数据与合规横向贯穿六层。三种竞合模式：垂直自建闭环（M4、M5）／生态联盟与协议接入（M2、M3a）／中立第三方（M3b式绕行代理在Amazon诉Perplexity获禁令后基本关闭，中立化只能走协议授权路径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第四章　零售与生鲜场景结合点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综合零售旅程 × 生鲜三类组合：餐桌助手优先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AI电商行业研究报告｜v3.2｜数据截至2026-07｜第33页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1">
                <a:solidFill>
                  <a:srgbClr val="0F2744"/>
                </a:solidFill>
                <a:latin typeface="Microsoft YaHei"/>
                <a:ea typeface="Microsoft YaHei"/>
              </a:rPr>
              <a:t>综合零售：按消费者旅程</a:t>
            </a:r>
          </a:p>
          <a:p>
            <a:pPr algn="l">
              <a:spcAft>
                <a:spcPts val="345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需求唤起　通用AI内的商品发现</a:t>
            </a:r>
          </a:p>
          <a:p>
            <a:pPr algn="l">
              <a:spcAft>
                <a:spcPts val="345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方案生成　答案式导购（攻略＋商品＋评测）</a:t>
            </a:r>
          </a:p>
          <a:p>
            <a:pPr algn="l">
              <a:spcAft>
                <a:spcPts val="345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选品比较　参数对比、评论提炼</a:t>
            </a:r>
          </a:p>
          <a:p>
            <a:pPr algn="l">
              <a:spcAft>
                <a:spcPts val="345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比价凑单　算优惠、盯价到价自动买</a:t>
            </a:r>
          </a:p>
          <a:p>
            <a:pPr algn="l">
              <a:spcAft>
                <a:spcPts val="345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下单支付　商家侧结账（代结账已收缩）</a:t>
            </a:r>
          </a:p>
          <a:p>
            <a:pPr algn="l">
              <a:spcAft>
                <a:spcPts val="345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履约售后　物流问答、一句话退换货</a:t>
            </a:r>
          </a:p>
          <a:p>
            <a:pPr algn="l">
              <a:spcAft>
                <a:spcPts val="345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复购　　　偏好记忆、补货提醒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23444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1">
                <a:solidFill>
                  <a:srgbClr val="0F2744"/>
                </a:solidFill>
                <a:latin typeface="Microsoft YaHei"/>
                <a:ea typeface="Microsoft YaHei"/>
              </a:rPr>
              <a:t>生鲜零售：三类组合及排序依据</a:t>
            </a:r>
          </a:p>
          <a:p>
            <a:pPr algn="l">
              <a:spcAft>
                <a:spcPts val="315"/>
              </a:spcAft>
            </a:pPr>
            <a:r>
              <a:rPr sz="1050" b="0">
                <a:solidFill>
                  <a:srgbClr val="0E7490"/>
                </a:solidFill>
                <a:latin typeface="Microsoft YaHei"/>
                <a:ea typeface="Microsoft YaHei"/>
              </a:rPr>
              <a:t>判据：①是否直接提升人均IPV　②有无外部实证　③推理成本负担</a:t>
            </a:r>
          </a:p>
          <a:p>
            <a:pPr algn="l">
              <a:spcAft>
                <a:spcPts val="375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1. 餐桌助手（唯一同时满足①②）</a:t>
            </a:r>
          </a:p>
          <a:p>
            <a:pPr algn="l">
              <a:spcAft>
                <a:spcPts val="312"/>
              </a:spcAft>
            </a:pPr>
            <a:r>
              <a:rPr sz="1040" b="0">
                <a:solidFill>
                  <a:srgbClr val="6B7280"/>
                </a:solidFill>
                <a:latin typeface="Microsoft YaHei"/>
                <a:ea typeface="Microsoft YaHei"/>
              </a:rPr>
              <a:t>对话或语音输入＋菜谱成车＋家庭偏好记忆＋周期购。一份菜谱在单轮回答内即可给出多个可加购商品，直接提升「每轮对话产出」；Instacart膳食规划已商用。主指标：单次会话加购商品数；证伪条件：若其95%CI上界低于对照组1.5倍，则转向清单式复购路径</a:t>
            </a:r>
          </a:p>
          <a:p>
            <a:pPr algn="l">
              <a:spcAft>
                <a:spcPts val="375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2. 损耗联动导购（价值在毛利与损耗，非导购指标）</a:t>
            </a:r>
          </a:p>
          <a:p>
            <a:pPr algn="l">
              <a:spcAft>
                <a:spcPts val="324"/>
              </a:spcAft>
            </a:pPr>
            <a:r>
              <a:rPr sz="1080" b="0">
                <a:solidFill>
                  <a:srgbClr val="6B7280"/>
                </a:solidFill>
                <a:latin typeface="Microsoft YaHei"/>
                <a:ea typeface="Microsoft YaHei"/>
              </a:rPr>
              <a:t>库存与效期接入推荐，临期折扣与当日菜谱联动；无公开效果披露；主体可由规则引擎与预测模型实现，不必依赖大模型</a:t>
            </a:r>
          </a:p>
          <a:p>
            <a:pPr algn="l">
              <a:spcAft>
                <a:spcPts val="375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3. 白标AI基建（对外商业化选项，应后置）</a:t>
            </a:r>
          </a:p>
          <a:p>
            <a:pPr algn="l">
              <a:spcAft>
                <a:spcPts val="324"/>
              </a:spcAft>
            </a:pPr>
            <a:r>
              <a:rPr sz="1080" b="0">
                <a:solidFill>
                  <a:srgbClr val="6B7280"/>
                </a:solidFill>
                <a:latin typeface="Microsoft YaHei"/>
                <a:ea typeface="Microsoft YaHei"/>
              </a:rPr>
              <a:t>面向区域商超输出对话建车与膳食规划；Instacart已有Kroger、Sprouts等付费客户，但不改善自身指标，应在自有场景验证后再启动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23610"/>
            <a:ext cx="10881360" cy="3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生鲜结构性特征：高频刚需、菜谱驱动、低毛利、易损耗、即时履约、非标商品。即时零售动态：美团收购叮咚买菜中国业务（初始对价约7.17亿美元，2026-02，港交所公告）；盒马「鲜生＋NB」双业态与前置仓扩张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第五章　产品与技术机会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交互范式变化与分角色机会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AI电商行业研究报告｜v3.2｜数据截至2026-07｜第34页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交互范式：四处变化</a:t>
            </a:r>
          </a:p>
          <a:p>
            <a:pPr algn="l" marL="402336" indent="0">
              <a:spcAft>
                <a:spcPts val="2788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关键词→商品列表 变为 模糊需求→多轮澄清→答案式结果（结果页设计转向答案组织设计）；用户自行完成漏斗 变为 AI压缩决策路径（核心指标转为每轮对话产出、人均IPV、意图识别准确率、推荐采纳率）；竞价与推荐分配流量 变为 模型引用与feed质量影响曝光；终点为下单 变为 终点延伸至授权代理A4（需授权管理与代理身份标识）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平台</a:t>
            </a:r>
          </a:p>
          <a:p>
            <a:pPr algn="l" marL="402336" indent="0">
              <a:spcAft>
                <a:spcPts val="2788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站内助手从问答升级到任务代理；答案页商业化规则设计（AI答案与广告位的位置冲突）；用户授权中心（额度、品类、撤销）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品牌与商家</a:t>
            </a:r>
          </a:p>
          <a:p>
            <a:pPr algn="l" marL="402336" indent="0">
              <a:spcAft>
                <a:spcPts val="2788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商品feed结构化与大模型可读性改造；在主要AI入口的被推荐率与被平替率监测；自有应用接入开放协议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生鲜与即时零售</a:t>
            </a:r>
          </a:p>
          <a:p>
            <a:pPr algn="l" marL="402336" indent="0">
              <a:spcAft>
                <a:spcPts val="2788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餐桌助手、损耗联动推荐、白标能力输出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服务商与开发者</a:t>
            </a:r>
          </a:p>
          <a:p>
            <a:pPr algn="l" marL="402336" indent="0">
              <a:spcAft>
                <a:spcPts val="2788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多协议适配中间件；导购效果评测与实验平台（解决观察性数据无法支撑决策的问题）；垂类导购智能体</a:t>
            </a:r>
          </a:p>
          <a:p>
            <a:pPr algn="l" marL="201168" indent="0"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● 合规要点</a:t>
            </a:r>
          </a:p>
          <a:p>
            <a:pPr algn="l" marL="402336" indent="0">
              <a:spcAft>
                <a:spcPts val="2788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生成式AI服务与算法推荐备案、生成合成内容标识、个人信息保护影响评估、数据出境限制、未成年人消费与代扣授权、价格表述合规；另需在服务条款中定义AI代理的识别义务与准入规则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第六章　结论与建议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六项结论（括注主要来源章节）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AI电商行业研究报告｜v3.2｜数据截至2026-07｜第35页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01168" indent="0">
              <a:spcAft>
                <a:spcPts val="302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● AI电商已进入规模化应用阶段，但环节成熟度差异显著：发现与决策辅助已有可验证规模，交易环节的AI化经历了一轮明确失败（§1.1、§1.3）</a:t>
            </a:r>
          </a:p>
          <a:p>
            <a:pPr algn="l" marL="201168" indent="0">
              <a:spcAft>
                <a:spcPts val="302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● 「AI负责发现、商家保留交易」是当前证据最充分的分工，且决定成败的是交易结构而非AI能力级别——M1与M2同为A3却结局相反。证据涉及四个主体、三类性质（产品决策／协议设计／司法判定）（§1.3、§2.1、§2.4）</a:t>
            </a:r>
          </a:p>
          <a:p>
            <a:pPr algn="l" marL="201168" indent="0">
              <a:spcAft>
                <a:spcPts val="302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● 站内AI导购在「个体层相对效果」构造上只有一个公开数据点（Rufus +60%，观察性对比）；「增量年化销售」为绝对额且归因方法未完整披露，不可替代——自建随机对照实验能力是获得可决策数字的唯一途径（§2.4四、图9）</a:t>
            </a:r>
          </a:p>
          <a:p>
            <a:pPr algn="l" marL="201168" indent="0">
              <a:spcAft>
                <a:spcPts val="302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● 内部口径数据显示差距落在交互层：留存差距仅1.10至1.20倍，而每轮对话产出差4.22倍；产品形态与意图构成两个解释需分层实验区分（§1.6、§1.8）</a:t>
            </a:r>
          </a:p>
          <a:p>
            <a:pPr algn="l" marL="201168" indent="0">
              <a:spcAft>
                <a:spcPts val="302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● 站外AI引荐的质量指标已反转但因果性未证明、增速放缓；本报告未取得AI引荐占零售总访问的份额，故不对基数高低下判断（§1.1、§1.3、§1.4、§1.8）</a:t>
            </a:r>
          </a:p>
          <a:p>
            <a:pPr algn="l" marL="201168" indent="0">
              <a:spcAft>
                <a:spcPts val="302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● 生鲜与高频复购业态适配度更高，其中餐桌助手是优先组合：一份菜谱在单轮回答内即可给出多个可加购商品，机制上与「提高每轮对话产出」一致（§4.2）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第六章　结论与建议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行动优先级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AI电商行业研究报告｜v3.2｜数据截至2026-07｜第36页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7280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743200"/>
                <a:gridCol w="7223760"/>
              </a:tblGrid>
              <a:tr h="4206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优先级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动作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P0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建立口径与实验基建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统一留存与回访率命名；明确AI链路商品浏览的归因规则；建立随机对照实验能力（参数见第19页），替代观察性对比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将人均IPV设为首要指标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DAU降为次级；阶段目标12个月0.22次、24个月0.35次（对齐中性档），1.00次为长期追赶参照；改造重点是「每轮对话产出」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P1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站内高确定性场景落地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商品问答、清单与菜谱成车、售后自动化；以人均IPV与转化率考核；护栏为客诉率相对提升的95%CI上界≤+10%（非劣性边界）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交易环节不外让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与外部通用AI入口合作采用「AI发现＋自有结账」；保持Merchant of Record身份与会员、售后归属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P2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商品数据结构化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结构化feed、评价与说明书治理；跨协议、跨平台唯一可迁移的供给侧投入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建立被推荐率监测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300条查询集（GMV前20品类×15条）×5个入口×月度，查询集固定不变；被平替率环比升超5个百分点时回溯该品类feed完成度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P3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服务条款中定义AI代理规则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明确AI代理的识别义务与准入规则，作为防御未授权代理与自有代理对外接入的合规基线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生鲜专项：餐桌助手优先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按三项判据排序；主指标为单次会话加购商品数，若其95%CI上界低于对照组1.5倍则转向清单式复购；损耗联动与供应链投入合并评估；白标输出后置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89345"/>
            <a:ext cx="10881360" cy="165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优先级依据：P0为其他判断的前提条件（不做则后续结论无法验证）；P1为已有证据支撑方向的落地；P2为跨路径通用、不依赖单一平台的供给侧投入；P3为条件成熟后启动的专项。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附录A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图表与数据来源索引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AI电商行业研究报告｜v3.2｜数据截至2026-07｜第37页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13385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3291840"/>
                <a:gridCol w="3657600"/>
                <a:gridCol w="1005840"/>
              </a:tblGrid>
              <a:tr h="42062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图号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数据来源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口径要点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等级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图1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美国AI引荐流量增速与定基指数外推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Adobe（2026-04）；外推为本报告测算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仅美国；左面板四窗口互有嵌套，非独立时点序列；年保留系数为设定值而非推导值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P1实测＋本报告测算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图2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AI引荐流量质量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Adobe Digital Insights（2026-04）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渠道间观察性对比；同期渠道流量增约4.9倍，访客构成迁移无法从公开数据分离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P1实测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图3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2025假日季AI影响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Salesforce假日季及Cyber Week报告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柱高与标注均为销售额口径；「AI影响」为宽口径；企业分组增速属第三种对照构造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P1实测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图4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代理式商务规模预测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eMarketer／MS／Bain／McKinsey／Edgar Dunn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对数轴；颜色编码口径宽窄；菱形为点估计、线段为区间；不作为规模基数使用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P1（第三方预测）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图5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中国AI私域电商规模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网经社（2026-05，电数宝）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私域子集；「AI驱动」未操作化定义；图注附隐含私域大盘的自洽性反算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P1实测＋P1预测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图6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主要AI购物入口规模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QuestMobile（P1）；OpenAI／Google／亚马逊财报／Perplexity（P2）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周／月／年窗口并存，条形长度不构成排名；Perplexity柱长取区间上界，标签保留区间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P1＋P2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图7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站内AI导购运营指标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业务方提供的内部运营口径数据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未公开、无交叉验证；7日回访率为口径校正后表述；含精度提示与三点可比性限制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P3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图8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有效商品浏览量情景测算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基期为内部实测；2027—2028为本报告测算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两面板共用纵轴；柱上标出分项路径；区间宽度衡量流量层自身的不确定性，GMV层敞口未纳入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P3＋本报告测算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图9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站内导购与站外引荐效果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亚马逊2025Q4财报（P2）／Adobe（P1）／Shopify（P2）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按对照构造分面板；面板①仅一根柱是本图主要事实；Salesforce企业分组数据未纳入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P1＋P2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89345"/>
            <a:ext cx="10881360" cy="165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更新方式：修改 data/*.csv 后依次执行 python3 scripts/make_charts.py 与 python3 scripts/make_pptx.py。情景测算中间结果输出至 data/_computed_scenarios.csv，可复算校验。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  <a:ea typeface="Microsoft YaHei"/>
              </a:rPr>
              <a:t>附录B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</a:pPr>
            <a:r>
              <a:rPr sz="1900" b="1">
                <a:solidFill>
                  <a:srgbClr val="0F2744"/>
                </a:solidFill>
                <a:latin typeface="Microsoft YaHei"/>
                <a:ea typeface="Microsoft YaHei"/>
              </a:rPr>
              <a:t>未采纳数据与已采纳数据的局限说明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AI电商行业研究报告｜v3.2｜数据截至2026-07｜第38页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7279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206240"/>
                <a:gridCol w="3749039"/>
              </a:tblGrid>
              <a:tr h="34465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问题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处理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京东京言相关自报运营数据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自报口径，未披露统计方法，无第三方交叉验证，存在夸大风险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不采纳；取得第三方面板或商家访谈交叉验证后升级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元宝用户规模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无权威第三方监测或官方披露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不列示；取得第三方口径后补充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由假设推导的AI导购GMV单点估计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需三层假设相乘（流量×转化率×客单价），误差区间大于结论信息量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不采纳；取得转化率与客单价实测后折算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Rufus增量年化销售约120亿美元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归因方法未经官方完整披露；第三方描述的7日滚动窗口与对照组构造未获确认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采纳但标注为公司口径估算，正文说明归因局限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Rufus使用者购买完成率高约60%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观察性对比，存在自选择偏差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采纳但标注为相关性上限，不用于收益测算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Instant Checkout峰值商家数、首月试用率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来自第三方复盘而非官方披露，不同来源数值不一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保留区间（约12至30家）不取单点，标注第三方复盘口径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Shopify口径AI引荐转化优势+54%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公司披露但未说明完整方法；样本以中小与DTC商家为主，与Adobe面板不可直接比较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与Adobe的+42%并列为区间（约+42%～+54%），不取单点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千问电商场景人均IPV=1.00次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为整数值，无法判断是舍入值还是定义性产物，却是9倍深度差的唯一锚点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加注精度提示；倍数一律表述为「约9倍量级」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Adobe口径转化率反转（−38%→+42%）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渠道间观察性对比；同期渠道流量增约4.9倍，访客构成迁移无法分离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表述为「质量指标已反转」而非「AI渠道更有效」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千问月活与电商场景日活的跨等级混算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混用P1与P3数据，且引入日活占月活15%~30%的未验证假设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标注不进入证据链、不可对外引用，仅作内部量级参照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单会话推理成本的绝对水平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需token单价与单会话平均token数，业务方未提供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列为待补输入；不影响两条提升路径的相对优先级</a:t>
                      </a:r>
                    </a:p>
                  </a:txBody>
                  <a:tcPr marT="25400" marB="25400">
                    <a:solidFill>
                      <a:srgbClr val="F1F5F9"/>
                    </a:solidFill>
                  </a:tcPr>
                </a:tc>
              </a:tr>
              <a:tr h="3446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淘宝AI导购与千问电商场景全部指标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内部口径，无交叉验证；两侧入口曝光机制与归因规则可能不一致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列为P3，仅内部对照；列出三点可比性限制与低估2至3倍的敏感度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89345"/>
            <a:ext cx="10881360" cy="165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原则：宁可留白，不用可疑数字。不置信数据既不展示，也不作为任何结论的依据；已采纳但有局限的数据一律随数字同时列出局限。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