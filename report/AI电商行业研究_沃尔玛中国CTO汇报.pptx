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47088"/>
            <a:ext cx="164592" cy="150876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41732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AI 电商行业研究</a:t>
            </a:r>
          </a:p>
          <a:p>
            <a:pPr algn="l">
              <a:spcAft>
                <a:spcPts val="839"/>
              </a:spcAft>
            </a:pPr>
            <a:r>
              <a:rPr sz="2400" b="0">
                <a:solidFill>
                  <a:srgbClr val="BFDBFE"/>
                </a:solidFill>
                <a:latin typeface="Microsoft YaHei"/>
                <a:ea typeface="Microsoft YaHei"/>
              </a:rPr>
              <a:t>格局、威胁与沃尔玛中国的行动选项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977639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汇报对象：沃尔玛中国 CTO</a:t>
            </a:r>
          </a:p>
          <a:p>
            <a:pPr algn="l">
              <a:spcAft>
                <a:spcPts val="437"/>
              </a:spcAft>
            </a:pPr>
            <a:r>
              <a:rPr sz="1250" b="0">
                <a:solidFill>
                  <a:srgbClr val="93C5FD"/>
                </a:solidFill>
                <a:latin typeface="Microsoft YaHei"/>
                <a:ea typeface="Microsoft YaHei"/>
              </a:rPr>
              <a:t>版本：预读版 v1.3 ｜ 数据截至 2026-07 ｜ 配套预读文档 30 分钟</a:t>
            </a:r>
          </a:p>
          <a:p>
            <a:pPr algn="l">
              <a:spcAft>
                <a:spcPts val="437"/>
              </a:spcAft>
            </a:pPr>
            <a:r>
              <a:rPr sz="1250" b="0">
                <a:solidFill>
                  <a:srgbClr val="FFC220"/>
                </a:solidFill>
                <a:latin typeface="Microsoft YaHei"/>
                <a:ea typeface="Microsoft YaHei"/>
              </a:rPr>
              <a:t>数据纪律：全部数字标注来源与置信度；京东系自报数据按内部研判整体降级为『低置信』，图表以斜纹标注，不作为决策依据</a:t>
            </a:r>
          </a:p>
          <a:p>
            <a:pPr algn="l">
              <a:spcAft>
                <a:spcPts val="437"/>
              </a:spcAft>
            </a:pPr>
            <a:r>
              <a:rPr sz="1250" b="0">
                <a:solidFill>
                  <a:srgbClr val="93C5FD"/>
                </a:solidFill>
                <a:latin typeface="Microsoft YaHei"/>
                <a:ea typeface="Microsoft YaHei"/>
              </a:rPr>
              <a:t>质量控制：本汇报经独立评审盲评循环（评分标准见附录），达标后提交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4572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1">
                <a:solidFill>
                  <a:srgbClr val="0071CE"/>
                </a:solidFill>
                <a:latin typeface="Microsoft YaHei"/>
                <a:ea typeface="Microsoft YaHei"/>
              </a:rPr>
              <a:t>执行摘要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>
                <a:solidFill>
                  <a:srgbClr val="1F2937"/>
                </a:solidFill>
                <a:latin typeface="Microsoft YaHei"/>
                <a:ea typeface="Microsoft YaHei"/>
              </a:rPr>
              <a:t>三个判断：入口在前移、交易留本地、山姆最受益也最受攻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沃尔玛中国 CTO 汇报｜AI 电商行业研究（预读版 v1.3）｜数据截至 2026-07｜内部资料·注意保密｜2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7"/>
              </a:spcAft>
            </a:pPr>
            <a:r>
              <a:rPr sz="1450" b="1">
                <a:solidFill>
                  <a:srgbClr val="1F2937"/>
                </a:solidFill>
                <a:latin typeface="Microsoft YaHei"/>
                <a:ea typeface="Microsoft YaHei"/>
              </a:rPr>
              <a:t>◆ 判断一｜购物决策入口正在前移到对话框，速度快于预期</a:t>
            </a:r>
          </a:p>
          <a:p>
            <a:pPr algn="l" lvl="1">
              <a:spcAft>
                <a:spcPts val="455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</a:rPr>
              <a:t>美国零售 AI 导流 2026Q1 同比 +393%，转化率一年内 -38% → +42%（Adobe，高置信）；假日季 20% 全球零售订单、2620 亿美元受 AI 影响（Salesforce，高置信）；国内豆包 3.83 亿 MAU 已闭环抖音电商、千问通淘宝、元宝通京东。观望窗口以季度计</a:t>
            </a:r>
          </a:p>
          <a:p>
            <a:pPr algn="l">
              <a:spcAft>
                <a:spcPts val="507"/>
              </a:spcAft>
            </a:pPr>
            <a:r>
              <a:rPr sz="1450" b="1">
                <a:solidFill>
                  <a:srgbClr val="1F2937"/>
                </a:solidFill>
                <a:latin typeface="Microsoft YaHei"/>
                <a:ea typeface="Microsoft YaHei"/>
              </a:rPr>
              <a:t>◆ 判断二｜交易不会被第三方 AI 拿走，但『决策』会——正确姿势已被沃尔玛美国验证</a:t>
            </a:r>
          </a:p>
          <a:p>
            <a:pPr algn="l" lvl="1">
              <a:spcAft>
                <a:spcPts val="455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</a:rPr>
              <a:t>ChatGPT 站内代结账转化仅为商家自有渠道约 1/3，上线约半年收缩；Sparky 以插件进驻 ChatGPT/Gemini、把交易带回自有体系后，转化恢复到自有站约 70%。中国的舞台是微信/豆包/千问</a:t>
            </a:r>
          </a:p>
          <a:p>
            <a:pPr algn="l">
              <a:spcAft>
                <a:spcPts val="507"/>
              </a:spcAft>
            </a:pPr>
            <a:r>
              <a:rPr sz="1450" b="1">
                <a:solidFill>
                  <a:srgbClr val="1F2937"/>
                </a:solidFill>
                <a:latin typeface="Microsoft YaHei"/>
                <a:ea typeface="Microsoft YaHei"/>
              </a:rPr>
              <a:t>◆ 判断三｜山姆是中国最适合 AI 导购的零售资产，也是 AI 比价/平替攻击的头号标靶</a:t>
            </a:r>
          </a:p>
          <a:p>
            <a:pPr algn="l" lvl="1">
              <a:spcAft>
                <a:spcPts val="455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</a:rPr>
              <a:t>约 4000 精选 SKU + 1070 万会员 + 线上占比超 50% + 补货指令自动化近 90% → AI 推荐准确率与 ROI 天花板最高；反面：『山姆平替』内容截流决策，美团小象+叮咚约 2000 前置仓正面进攻即时零售腹地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533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  <a:ea typeface="Microsoft YaHei"/>
              </a:rPr>
              <a:t>来源：Adobe / Salesforce / QuestMobile（高置信）；公司披露与媒体口径（中置信）。详见预读文档第 1~3 节。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4572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1">
                <a:solidFill>
                  <a:srgbClr val="0071CE"/>
                </a:solidFill>
                <a:latin typeface="Microsoft YaHei"/>
                <a:ea typeface="Microsoft YaHei"/>
              </a:rPr>
              <a:t>执行摘要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>
                <a:solidFill>
                  <a:srgbClr val="1F2937"/>
                </a:solidFill>
                <a:latin typeface="Microsoft YaHei"/>
                <a:ea typeface="Microsoft YaHei"/>
              </a:rPr>
              <a:t>三个建议：Build 站内助手、Ready 供给就绪、Partner 微信卡位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沃尔玛中国 CTO 汇报｜AI 电商行业研究（预读版 v1.3）｜数据截至 2026-07｜内部资料·注意保密｜3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7"/>
              </a:spcAft>
            </a:pPr>
            <a:r>
              <a:rPr sz="1450" b="1">
                <a:solidFill>
                  <a:srgbClr val="1F2937"/>
                </a:solidFill>
                <a:latin typeface="Microsoft YaHei"/>
                <a:ea typeface="Microsoft YaHei"/>
              </a:rPr>
              <a:t>◆ Build｜90 天在山姆 App/小程序上线『餐桌助手』MVP</a:t>
            </a:r>
          </a:p>
          <a:p>
            <a:pPr algn="l" lvl="1">
              <a:spcAft>
                <a:spcPts val="455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</a:rPr>
              <a:t>菜谱→购物车、常购清单一键成车、商品问答三个高确定场景；深圳/上海会员灰度 10%；KPI：周使用率 ≥15%、助手加购转化 ≥ 搜索基线 1.2 倍</a:t>
            </a:r>
          </a:p>
          <a:p>
            <a:pPr algn="l">
              <a:spcAft>
                <a:spcPts val="507"/>
              </a:spcAft>
            </a:pPr>
            <a:r>
              <a:rPr sz="1450" b="1">
                <a:solidFill>
                  <a:srgbClr val="1F2937"/>
                </a:solidFill>
                <a:latin typeface="Microsoft YaHei"/>
                <a:ea typeface="Microsoft YaHei"/>
              </a:rPr>
              <a:t>◆ Ready｜立即建立 AI 可见度基线与商品数据 LLM 就绪化</a:t>
            </a:r>
          </a:p>
          <a:p>
            <a:pPr algn="l" lvl="1">
              <a:spcAft>
                <a:spcPts val="455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</a:rPr>
              <a:t>500 组购物问题×豆包/千问/元宝/点点，月度监测『山姆被推荐率、被平替率』；500 SKU feed 结构化 POC——所有路线的地基，成本低、无前置条件</a:t>
            </a:r>
          </a:p>
          <a:p>
            <a:pPr algn="l">
              <a:spcAft>
                <a:spcPts val="507"/>
              </a:spcAft>
            </a:pPr>
            <a:r>
              <a:rPr sz="1450" b="1">
                <a:solidFill>
                  <a:srgbClr val="1F2937"/>
                </a:solidFill>
                <a:latin typeface="Microsoft YaHei"/>
                <a:ea typeface="Microsoft YaHei"/>
              </a:rPr>
              <a:t>◆ Partner｜把腾讯云 Mall 合作升级为『山姆 Agent』共建</a:t>
            </a:r>
          </a:p>
          <a:p>
            <a:pPr algn="l" lvl="1">
              <a:spcAft>
                <a:spcPts val="455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</a:rPr>
              <a:t>对标元宝×京东模式卡位微信 AI 入口；谈判底线=交易、会员、支付留在山姆体系（Sparky 原则）；对豆包/千问保持『可被发现、不交交易』的最小接入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533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  <a:ea typeface="Microsoft YaHei"/>
              </a:rPr>
              <a:t>三条并行组合执行而非三选一；预算与团队诉求见第 16 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4572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1">
                <a:solidFill>
                  <a:srgbClr val="0071CE"/>
                </a:solidFill>
                <a:latin typeface="Microsoft YaHei"/>
                <a:ea typeface="Microsoft YaHei"/>
              </a:rPr>
              <a:t>全球信号 1/4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>
                <a:solidFill>
                  <a:srgbClr val="1F2937"/>
                </a:solidFill>
                <a:latin typeface="Microsoft YaHei"/>
                <a:ea typeface="Microsoft YaHei"/>
              </a:rPr>
              <a:t>AI 导流一年成为零售结构性渠道：Q1 同比 +393%，假日季峰值 +1151%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沃尔玛中国 CTO 汇报｜AI 电商行业研究（预读版 v1.3）｜数据截至 2026-07｜内部资料·注意保密｜4</a:t>
            </a:r>
          </a:p>
        </p:txBody>
      </p:sp>
      <p:pic>
        <p:nvPicPr>
          <p:cNvPr id="6" name="Picture 5" descr="02_us_ai_traffic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212" y="1600200"/>
            <a:ext cx="10417271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0533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  <a:ea typeface="Microsoft YaHei"/>
              </a:rPr>
              <a:t>决策含义：AI 导流不是季节性噪音而是结构性迁移——零售业增速领先所有行业，「观望」的机会成本最高。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4572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1">
                <a:solidFill>
                  <a:srgbClr val="0071CE"/>
                </a:solidFill>
                <a:latin typeface="Microsoft YaHei"/>
                <a:ea typeface="Microsoft YaHei"/>
              </a:rPr>
              <a:t>全球信号 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>
                <a:solidFill>
                  <a:srgbClr val="1F2937"/>
                </a:solidFill>
                <a:latin typeface="Microsoft YaHei"/>
                <a:ea typeface="Microsoft YaHei"/>
              </a:rPr>
              <a:t>质量逆转：AI 流量转化率从 -38% 到 +42%，单访问收入高 37%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沃尔玛中国 CTO 汇报｜AI 电商行业研究（预读版 v1.3）｜数据截至 2026-07｜内部资料·注意保密｜5</a:t>
            </a:r>
          </a:p>
        </p:txBody>
      </p:sp>
      <p:pic>
        <p:nvPicPr>
          <p:cNvPr id="6" name="Picture 5" descr="03_ai_conversion_revers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212" y="1600200"/>
            <a:ext cx="10417271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0533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  <a:ea typeface="Microsoft YaHei"/>
              </a:rPr>
              <a:t>决策含义：AI 流量已是最优获客渠道，且当前获取成本低于付费搜索——典型的红利期窗口。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4572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1">
                <a:solidFill>
                  <a:srgbClr val="0071CE"/>
                </a:solidFill>
                <a:latin typeface="Microsoft YaHei"/>
                <a:ea typeface="Microsoft YaHei"/>
              </a:rPr>
              <a:t>全球信号 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>
                <a:solidFill>
                  <a:srgbClr val="1F2937"/>
                </a:solidFill>
                <a:latin typeface="Microsoft YaHei"/>
                <a:ea typeface="Microsoft YaHei"/>
              </a:rPr>
              <a:t>假日季检验：AI 影响 20% 全球订单；部署自有 Agent 的零售商增速快 59%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沃尔玛中国 CTO 汇报｜AI 电商行业研究（预读版 v1.3）｜数据截至 2026-07｜内部资料·注意保密｜6</a:t>
            </a:r>
          </a:p>
        </p:txBody>
      </p:sp>
      <p:pic>
        <p:nvPicPr>
          <p:cNvPr id="6" name="Picture 5" descr="06_holiday_ai_infl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212" y="1600200"/>
            <a:ext cx="10417271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0533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  <a:ea typeface="Microsoft YaHei"/>
              </a:rPr>
              <a:t>口径提醒：『AI 影响的销售』≠『AI 内成交』，两者相差约一个数量级，本汇报严格分开使用。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4572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1">
                <a:solidFill>
                  <a:srgbClr val="0071CE"/>
                </a:solidFill>
                <a:latin typeface="Microsoft YaHei"/>
                <a:ea typeface="Microsoft YaHei"/>
              </a:rPr>
              <a:t>全球信号 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>
                <a:solidFill>
                  <a:srgbClr val="1F2937"/>
                </a:solidFill>
                <a:latin typeface="Microsoft YaHei"/>
                <a:ea typeface="Microsoft YaHei"/>
              </a:rPr>
              <a:t>规模预期：口径相差 35 倍——『AI 内成交』尚小，『AI 影响』已巨大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沃尔玛中国 CTO 汇报｜AI 电商行业研究（预读版 v1.3）｜数据截至 2026-07｜内部资料·注意保密｜7</a:t>
            </a:r>
          </a:p>
        </p:txBody>
      </p:sp>
      <p:pic>
        <p:nvPicPr>
          <p:cNvPr id="6" name="Picture 5" descr="01_global_agentic_foreca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206" y="1600200"/>
            <a:ext cx="9845282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0533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  <a:ea typeface="Microsoft YaHei"/>
              </a:rPr>
              <a:t>决策含义：不必赌宽口径兑现，窄口径（AI 内成交）已足以支撑试点级投入；宽口径决定的是战略卡位价值。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4572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1">
                <a:solidFill>
                  <a:srgbClr val="0071CE"/>
                </a:solidFill>
                <a:latin typeface="Microsoft YaHei"/>
                <a:ea typeface="Microsoft YaHei"/>
              </a:rPr>
              <a:t>全球资产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>
                <a:solidFill>
                  <a:srgbClr val="1F2937"/>
                </a:solidFill>
                <a:latin typeface="Microsoft YaHei"/>
                <a:ea typeface="Microsoft YaHei"/>
              </a:rPr>
              <a:t>沃尔玛美国已替我们交过学费：代结账失败、插件模式成功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沃尔玛中国 CTO 汇报｜AI 电商行业研究（预读版 v1.3）｜数据截至 2026-07｜内部资料·注意保密｜8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72"/>
              </a:spcAft>
            </a:pP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</a:rPr>
              <a:t>◆ Instant Checkout 教训（2025-10 ~ 2026-03）</a:t>
            </a:r>
          </a:p>
          <a:p>
            <a:pPr algn="l" lvl="1">
              <a:spcAft>
                <a:spcPts val="419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约 20 万 SKU 接入 ChatGPT 站内代结账：转化率仅为自有渠道约 1/3、错购频发 → 退出。结论：缺购物车/优惠/会员/库存联动的对话内直购不成立</a:t>
            </a:r>
          </a:p>
          <a:p>
            <a:pPr algn="l">
              <a:spcAft>
                <a:spcPts val="472"/>
              </a:spcAft>
            </a:pP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</a:rPr>
              <a:t>◆ Sparky 插件模式（2026-03 起）</a:t>
            </a:r>
          </a:p>
          <a:p>
            <a:pPr algn="l" lvl="1">
              <a:spcAft>
                <a:spcPts val="419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自有 Agent 进驻 ChatGPT（Plus/Pro）与 Gemini：对话内逛沃尔玛、回沃尔玛结账，转化恢复到自有站约 70%，会员与数据完整保留；Claude 集成洽谈中</a:t>
            </a:r>
          </a:p>
          <a:p>
            <a:pPr algn="l">
              <a:spcAft>
                <a:spcPts val="472"/>
              </a:spcAft>
            </a:pP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</a:rPr>
              <a:t>◆ 同行印证</a:t>
            </a:r>
          </a:p>
          <a:p>
            <a:pPr algn="l" lvl="1">
              <a:spcAft>
                <a:spcPts val="419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Amazon Rufus：2025 年 3 亿+ 用户、购买完成率 +60%、约 120 亿美元增量年化销售（自报，中置信）；Instacart 把 Cart Assistant 白标输出给 Kroger/Sprouts——生鲜 AI 进入『基建即服务』阶段</a:t>
            </a:r>
          </a:p>
          <a:p>
            <a:pPr algn="l">
              <a:spcAft>
                <a:spcPts val="472"/>
              </a:spcAft>
            </a:pP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</a:rPr>
              <a:t>◆ 对中国团队的含义</a:t>
            </a:r>
          </a:p>
          <a:p>
            <a:pPr algn="l" lvl="1">
              <a:spcAft>
                <a:spcPts val="419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①站内 AI 导购 ROI 为正、②交易主权留自有体系、③『被 AI 发现』是新流量入口——三件事无需在中国重新论证，需要的是本地化入口选择与合规改造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533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  <a:ea typeface="Microsoft YaHei"/>
              </a:rPr>
              <a:t>来源：The Paypers / WIRED 报道、OpenAI 公告（中置信）；关键数字已与多方报道交叉。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4572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1">
                <a:solidFill>
                  <a:srgbClr val="0071CE"/>
                </a:solidFill>
                <a:latin typeface="Microsoft YaHei"/>
                <a:ea typeface="Microsoft YaHei"/>
              </a:rPr>
              <a:t>分析坐标系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>
                <a:solidFill>
                  <a:srgbClr val="1F2937"/>
                </a:solidFill>
                <a:latin typeface="Microsoft YaHei"/>
                <a:ea typeface="Microsoft YaHei"/>
              </a:rPr>
              <a:t>AI 购物能力五级：山姆站内做 A1→A3、站外做 A2、A4 只在复购场景灰度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沃尔玛中国 CTO 汇报｜AI 电商行业研究（预读版 v1.3）｜数据截至 2026-07｜内部资料·注意保密｜9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00200"/>
          <a:ext cx="1097280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645920"/>
                <a:gridCol w="3474720"/>
                <a:gridCol w="5120640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级别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名称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特征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玩家标级（2026-07）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A1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站内问答辅助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答疑、比较、攻略，不改变交易流程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Rufus 早期、京言（方向性事实）、淘宝问问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A2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站外种草导流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AI 给推荐 + 跳转链接，交易在别处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元宝×京东（商品卡→小程序）、Sparky-in-ChatGPT（插件→自有结账）、小红书点点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A3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对话内闭环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选品、下单、支付不出对话界面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豆包×抖音电商、千问×淘宝；Buy it in ChatGPT（已收缩，反例）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A4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授权代理执行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凑单用券、盯价代拍、自动补货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Rufus（Buy for Me/自动购买）、淘宝 AI 帮抢——信任与风控是升级卡点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A5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自主代理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长期授权、全网比价代买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尚无规模化案例（美国信任全自动结账者仅约 14%，行业调查汇总口径·中置信·待溯源）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0533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  <a:ea typeface="Microsoft YaHei"/>
              </a:rPr>
              <a:t>本研究自建框架，后文『A2/A4 级』均指此坐标系；预读文档 §1.3 有同款定义表。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4572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1">
                <a:solidFill>
                  <a:srgbClr val="0071CE"/>
                </a:solidFill>
                <a:latin typeface="Microsoft YaHei"/>
                <a:ea typeface="Microsoft YaHei"/>
              </a:rPr>
              <a:t>中国战场 1/4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>
                <a:solidFill>
                  <a:srgbClr val="1F2937"/>
                </a:solidFill>
                <a:latin typeface="Microsoft YaHei"/>
                <a:ea typeface="Microsoft YaHei"/>
              </a:rPr>
              <a:t>入口格局：四大阵营+两个变量，微信系联盟模式与沃尔玛通道天然契合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沃尔玛中国 CTO 汇报｜AI 电商行业研究（预读版 v1.3）｜数据截至 2026-07｜内部资料·注意保密｜10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00200"/>
          <a:ext cx="1097280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4206240"/>
                <a:gridCol w="3566160"/>
              </a:tblGrid>
              <a:tr h="65836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阵营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模式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关键进展（置信度）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对沃尔玛中国的含义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字节：豆包×抖音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垂直闭环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3.83 亿 MAU（高）；『买前问豆包』一级入口，App 内闭环；2026-07 起订单正式归因（中）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年轻家庭决策截流；『山姆平替』内容放大器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阿里：千问×淘宝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垂直闭环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1.66 亿 MAU（高）；对话完成淘宝全链路；1.4 亿用户首次 AI 购物（中）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盒马为其生鲜抓手，入口优先导流阿里系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腾讯+京东：元宝×京东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生态联盟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2026-07 打通小程序生态：对话出商品卡→跳京东小程序成交（中）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最重要样板：微信 AI 愿以小程序方式与零售方合作——山姆可复制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京东自有 AI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自建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B42318"/>
                          </a:solidFill>
                          <a:latin typeface="Microsoft YaHei"/>
                          <a:ea typeface="Microsoft YaHei"/>
                        </a:rPr>
                        <a:t>京言/京东 AI 购等；自报数据（8000 万用户等）→ 低置信·不采信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方向可确认、数字不采信；既是秒送渠道伙伴又是竞对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变量：小红书点点 / 拼多多 / 快手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社区 AI / 站内工具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点点并入主站（中）；拼多多、快手已上线 AI 搜索，披露极少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点点=山姆爆品种草与平替拆解主阵地，GEO 必须覆盖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0533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  <a:ea typeface="Microsoft YaHei"/>
              </a:rPr>
              <a:t>来源：QuestMobile（高）、各公司官宣（中）、京东发布会（低置信·降级）。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4572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1">
                <a:solidFill>
                  <a:srgbClr val="0071CE"/>
                </a:solidFill>
                <a:latin typeface="Microsoft YaHei"/>
                <a:ea typeface="Microsoft YaHei"/>
              </a:rPr>
              <a:t>中国战场 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>
                <a:solidFill>
                  <a:srgbClr val="1F2937"/>
                </a:solidFill>
                <a:latin typeface="Microsoft YaHei"/>
                <a:ea typeface="Microsoft YaHei"/>
              </a:rPr>
              <a:t>入口体量：豆包已达 3.83 亿月活；京东自报数据以斜纹降级呈现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沃尔玛中国 CTO 汇报｜AI 电商行业研究（预读版 v1.3）｜数据截至 2026-07｜内部资料·注意保密｜11</a:t>
            </a:r>
          </a:p>
        </p:txBody>
      </p:sp>
      <p:pic>
        <p:nvPicPr>
          <p:cNvPr id="6" name="Picture 5" descr="04_ai_entrance_user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735" y="1600200"/>
            <a:ext cx="8946224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0533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  <a:ea typeface="Microsoft YaHei"/>
              </a:rPr>
              <a:t>决策含义：站外入口体量已达电商 App 量级，『被 AI 发现』成为必选项；低置信数据不改变该判断。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4572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1">
                <a:solidFill>
                  <a:srgbClr val="0071CE"/>
                </a:solidFill>
                <a:latin typeface="Microsoft YaHei"/>
                <a:ea typeface="Microsoft YaHei"/>
              </a:rPr>
              <a:t>中国战场 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>
                <a:solidFill>
                  <a:srgbClr val="1F2937"/>
                </a:solidFill>
                <a:latin typeface="Microsoft YaHei"/>
                <a:ea typeface="Microsoft YaHei"/>
              </a:rPr>
              <a:t>渗透曲线：AI 私域电商 2025 年 0.65 万亿，2030 年预计 3.37 万亿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沃尔玛中国 CTO 汇报｜AI 电商行业研究（预读版 v1.3）｜数据截至 2026-07｜内部资料·注意保密｜12</a:t>
            </a:r>
          </a:p>
        </p:txBody>
      </p:sp>
      <p:pic>
        <p:nvPicPr>
          <p:cNvPr id="6" name="Picture 5" descr="05_china_ai_private_ecomme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162" y="1600200"/>
            <a:ext cx="7469370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0533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  <a:ea typeface="Microsoft YaHei"/>
              </a:rPr>
              <a:t>口径注意：仅为私域子集——中国尚无全量『AI 电商 GMV』权威口径，本研究 P1 阶段将自建估算模型。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4572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1">
                <a:solidFill>
                  <a:srgbClr val="0071CE"/>
                </a:solidFill>
                <a:latin typeface="Microsoft YaHei"/>
                <a:ea typeface="Microsoft YaHei"/>
              </a:rPr>
              <a:t>中国战场 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>
                <a:solidFill>
                  <a:srgbClr val="1F2937"/>
                </a:solidFill>
                <a:latin typeface="Microsoft YaHei"/>
                <a:ea typeface="Microsoft YaHei"/>
              </a:rPr>
              <a:t>两条证据线均为正：站内（Rufus 完成率 +60%、自有 Agent 增速溢价 +59%）；站外引荐（Adobe +42%、Shopify +54%）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沃尔玛中国 CTO 汇报｜AI 电商行业研究（预读版 v1.3）｜数据截至 2026-07｜内部资料·注意保密｜13</a:t>
            </a:r>
          </a:p>
        </p:txBody>
      </p:sp>
      <p:pic>
        <p:nvPicPr>
          <p:cNvPr id="6" name="Picture 5" descr="07_instore_ai_score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583" y="1600200"/>
            <a:ext cx="10708529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0533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  <a:ea typeface="Microsoft YaHei"/>
              </a:rPr>
              <a:t>决策含义：四个数字口径各不相同、只并列不合并；京东斜纹柱不参与判断——结论不依赖低置信数据。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4572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1">
                <a:solidFill>
                  <a:srgbClr val="0071CE"/>
                </a:solidFill>
                <a:latin typeface="Microsoft YaHei"/>
                <a:ea typeface="Microsoft YaHei"/>
              </a:rPr>
              <a:t>沃尔玛中国映射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>
                <a:solidFill>
                  <a:srgbClr val="1F2937"/>
                </a:solidFill>
                <a:latin typeface="Microsoft YaHei"/>
                <a:ea typeface="Microsoft YaHei"/>
              </a:rPr>
              <a:t>山姆的七项资产决定：AI 导购的 ROI 天花板全行业最高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沃尔玛中国 CTO 汇报｜AI 电商行业研究（预读版 v1.3）｜数据截至 2026-07｜内部资料·注意保密｜14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0020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846320"/>
                <a:gridCol w="4572000"/>
              </a:tblGrid>
              <a:tr h="5486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资产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数值/事实（置信度）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AI 含义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会员体系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付费会员 1070 万、卓越续卡率 92%（中）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高质量第一方数据；『替会员省时间』叙事天然成立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精选 SKU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约 4000 个，为传统商超 1/10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商品池小 → 推荐准、幻觉少、推理成本低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线上盘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线上占比超 50%（约 650~700 亿元）；80% 订单 1 小时达（中）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AI 转化增益直接作用于最大收入池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履约网络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门店+云仓双层网络，前置仓/云仓 455+（中）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『餐桌 Agent』的履约兑现现成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供应链 AI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云仓自动补货指令占比近 90%（中）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向『损耗联动导购』延伸的边际成本低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腾讯合作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云 Mall 支撑山姆 App/小程序多年（大促峰值 QPS 10 万+）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微信 AI 卡位的现成工程与商务通道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全球资产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Sparky 产品与插件经验、Instant Checkout 教训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方法论可复用；模型与数据链路须本地合规化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0533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  <a:ea typeface="Microsoft YaHei"/>
              </a:rPr>
              <a:t>来源：公司披露、沃尔玛国际管理层披露、媒体报道（中置信）。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4572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1">
                <a:solidFill>
                  <a:srgbClr val="0071CE"/>
                </a:solidFill>
                <a:latin typeface="Microsoft YaHei"/>
                <a:ea typeface="Microsoft YaHei"/>
              </a:rPr>
              <a:t>沃尔玛中国映射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>
                <a:solidFill>
                  <a:srgbClr val="1F2937"/>
                </a:solidFill>
                <a:latin typeface="Microsoft YaHei"/>
                <a:ea typeface="Microsoft YaHei"/>
              </a:rPr>
              <a:t>四个威胁（T1 附敞口测算）与三个结构性机会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沃尔玛中国 CTO 汇报｜AI 电商行业研究（预读版 v1.3）｜数据截至 2026-07｜内部资料·注意保密｜15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B42318"/>
                </a:solidFill>
                <a:latin typeface="Microsoft YaHei"/>
                <a:ea typeface="Microsoft YaHei"/>
              </a:rPr>
              <a:t>威胁（紧迫度排序）</a:t>
            </a:r>
          </a:p>
          <a:p>
            <a:pPr algn="l">
              <a:spcAft>
                <a:spcPts val="419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T1 决策截流（现在进行时）：会员先问豆包/小红书『值不值、有无平替』。敞口测算（作者区间估算）：线上盘约 675 亿 × 购前 AI 咨询渗透 20%~40% × 流失/降级 5%~10% ⇒ 年化 GMV-at-risk 约 7~27 亿元，P2 用实测收窄</a:t>
            </a:r>
          </a:p>
          <a:p>
            <a:pPr algn="l">
              <a:spcAft>
                <a:spcPts val="419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T2 即时零售火力升级（1 年内）：美团小象+叮咚约 2000 前置仓，价格与时效双压 → AI 侧应对=P1 以会员价值差异化；小象/叮咚 AI 动态并入 P2 监测</a:t>
            </a:r>
          </a:p>
          <a:p>
            <a:pPr algn="l">
              <a:spcAft>
                <a:spcPts val="419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T3 入口绑定排他（1~2 年）：微信 AI 零售位若被京东系独占 → 对应 N1 谈判线</a:t>
            </a:r>
          </a:p>
          <a:p>
            <a:pPr algn="l">
              <a:spcAft>
                <a:spcPts val="419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T4 供给侧标准缺位（1~2 年）：feed 不做 LLM 就绪化，可见度被动下降（34% 商品页对 AI 不可见，Adobe·高置信）→ 对应 P2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047857"/>
                </a:solidFill>
                <a:latin typeface="Microsoft YaHei"/>
                <a:ea typeface="Microsoft YaHei"/>
              </a:rPr>
              <a:t>机会（山姆结构性占优）</a:t>
            </a:r>
          </a:p>
          <a:p>
            <a:pPr algn="l">
              <a:spcAft>
                <a:spcPts val="437"/>
              </a:spcAft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</a:rPr>
              <a:t>1. 餐桌 Agent：会员制+菜谱驱动+高频复购，『今晚吃什么→一键成车→1 小时达』全中国只有山姆能以自有流量跑通</a:t>
            </a:r>
          </a:p>
          <a:p>
            <a:pPr algn="l">
              <a:spcAft>
                <a:spcPts val="437"/>
              </a:spcAft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</a:rPr>
              <a:t>2. 会员复购代理（A4 级）：低 SKU 高复购下授权代理信任门槛最低。信任数据：国内 65%~70% 期待 AI 比价整理、仅 37%~48% 接受自动下单 → A4 从复购场景切入而非新品推荐</a:t>
            </a:r>
          </a:p>
          <a:p>
            <a:pPr algn="l">
              <a:spcAft>
                <a:spcPts val="437"/>
              </a:spcAft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</a:rPr>
              <a:t>3. 损耗联动导购：云仓库存/效期接入推荐（临期折扣+今晚特价菜谱），同时改善损耗与体验——直击近期极速达临期品舆情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533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  <a:ea typeface="Microsoft YaHei"/>
              </a:rPr>
              <a:t>对标：Instacart Cart Assistant 已落地 Kroger/Sprouts；A1~A5 定义见第 9 页。大卖场/社区店按『同栈移植』跟随策略推进（预读 §3.4），拼多多/美团闪购动态并入 P2 监测。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4572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1">
                <a:solidFill>
                  <a:srgbClr val="0071CE"/>
                </a:solidFill>
                <a:latin typeface="Microsoft YaHei"/>
                <a:ea typeface="Microsoft YaHei"/>
              </a:rPr>
              <a:t>战略选项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>
                <a:solidFill>
                  <a:srgbClr val="1F2937"/>
                </a:solidFill>
                <a:latin typeface="Microsoft YaHei"/>
                <a:ea typeface="Microsoft YaHei"/>
              </a:rPr>
              <a:t>Build / Partner / Ready 组合执行，而非三选一；三条红线不碰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沃尔玛中国 CTO 汇报｜AI 电商行业研究（预读版 v1.3）｜数据截至 2026-07｜内部资料·注意保密｜16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00200"/>
          <a:ext cx="1097280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4023360"/>
                <a:gridCol w="2743200"/>
                <a:gridCol w="2468880"/>
              </a:tblGrid>
              <a:tr h="71323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路线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内容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加码判据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风险控制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Build 自建站内 AI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山姆 App/小程序『餐桌助手』；国内合规模型栈私有化部署、数据不出域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站内渗透率与转化增益达标即扩品类、扩沃尔玛 App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先做高确定任务（复购/菜谱/售后）；低 SKU 使幻觉可控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Partner 生态卡位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与腾讯共建『山姆 Agent』进微信 AI 场景（对标元宝×京东）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微信 AI 入口 DAU 与元宝×京东实际成交表现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底线=交易、会员、支付留在山姆体系；拒绝排他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Ready 供给就绪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feed 结构化 + 四大入口可见度监测（GEO）+ 支付代扣授权预研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立即执行，无前置条件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成本低，情报与数据治理为主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0533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  <a:ea typeface="Microsoft YaHei"/>
              </a:rPr>
              <a:t>不建议：①把结账交给第三方 AI（全球已证伪）；②在淘宝/抖音竞对生态深度绑定；③等『中立比价 AI』（国内大概率伪命题）。Build 前必答：国内暂无对标 Instacart 的成熟生鲜白标；若出现，以数据不出域/会员隔离/TCO 三判据重评 Build vs Buy。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4572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1">
                <a:solidFill>
                  <a:srgbClr val="0071CE"/>
                </a:solidFill>
                <a:latin typeface="Microsoft YaHei"/>
                <a:ea typeface="Microsoft YaHei"/>
              </a:rPr>
              <a:t>行动方案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>
                <a:solidFill>
                  <a:srgbClr val="1F2937"/>
                </a:solidFill>
                <a:latin typeface="Microsoft YaHei"/>
                <a:ea typeface="Microsoft YaHei"/>
              </a:rPr>
              <a:t>90 天三个试点 + 一条谈判线：每项带 KPI 门槛与止损条件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沃尔玛中国 CTO 汇报｜AI 电商行业研究（预读版 v1.3）｜数据截至 2026-07｜内部资料·注意保密｜17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0020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011680"/>
                <a:gridCol w="3291840"/>
                <a:gridCol w="3017520"/>
                <a:gridCol w="2377440"/>
              </a:tblGrid>
              <a:tr h="7315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#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试点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范围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90 天 KPI 门槛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止损条件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P1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山姆 App 餐桌助手 MVP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菜谱→购物车 / 常购清单 / 商品问答；深沪会员灰度 10%；T+0 启动备案材料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周使用率 ≥15%（分母=灰度内当周活跃会员）；加购转化 ≥ 搜索基线 1.2 倍；客诉率 ≤ 人工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任一 KPI 连续 4 周 &lt; 门槛 50% → 收缩场景重做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P2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AI 可见度与平替风险基线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500 组问题×豆包/千问/元宝/点点月测（含小象/叮咚/拼多多/美团闪购 AI 动态）；500 SKU feed 改造 POC（设对照组）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改造组被推荐率较对照组 +5pct 以上（连续两次月测同向）；T1 敞口收窄为实测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无（纯情报与数据治理投入）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P3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会员 AI 售后代理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企微+小程序退换货/效期问题自动化（含临期品场景）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自动解决率 ≥40%；满意度不降；单均服务成本 -30%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错误处理率 &gt;2% 即回退人工</a:t>
                      </a:r>
                    </a:p>
                  </a:txBody>
                  <a:tcPr marT="38100" marB="38100">
                    <a:solidFill>
                      <a:srgbClr val="F3F6F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N1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腾讯谈判线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『山姆 Agent 进微信 AI』联合 POC；明确数据与结账边界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90 天内达成 POC 范围与商务框架意向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腾讯排他倾向明显 → 转多入口目录接入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0533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  <a:ea typeface="Microsoft YaHei"/>
              </a:rPr>
              <a:t>资源诉求（CTO 决策）：首期 90 天总预算约 200~450 万元（人力 24~36 人月按全成本 6~9 万/人月假设 + 推理 20~80 万 + 数据分摊约 25 万 + 合规咨询 10~30 万；立项讨论用估算，财务核价出准数）；国内合规模型栈选型（混元/DeepSeek/通义）。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4572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1">
                <a:solidFill>
                  <a:srgbClr val="0071CE"/>
                </a:solidFill>
                <a:latin typeface="Microsoft YaHei"/>
                <a:ea typeface="Microsoft YaHei"/>
              </a:rPr>
              <a:t>风险与合规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>
                <a:solidFill>
                  <a:srgbClr val="1F2937"/>
                </a:solidFill>
                <a:latin typeface="Microsoft YaHei"/>
                <a:ea typeface="Microsoft YaHei"/>
              </a:rPr>
              <a:t>外资零售在华做 AI 导购的六条红线与应对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沃尔玛中国 CTO 汇报｜AI 电商行业研究（预读版 v1.3）｜数据截至 2026-07｜内部资料·注意保密｜18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7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◆ 生成式 AI 服务合规</a:t>
            </a:r>
          </a:p>
          <a:p>
            <a:pPr algn="l" lvl="1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依据《生成式人工智能服务管理暂行办法》《互联网信息服务算法推荐管理规定》：灰度是否触发备案义务=立项第一周法务定性（P1 首个里程碑）；备案材料 T+0 启动（周期以数月计）；必要时灰度期提供『检索+模板』非生成式兜底</a:t>
            </a:r>
          </a:p>
          <a:p>
            <a:pPr algn="l">
              <a:spcAft>
                <a:spcPts val="437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◆ AI 内容标识与个人信息合规</a:t>
            </a:r>
          </a:p>
          <a:p>
            <a:pPr algn="l" lvl="1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按《人工智能生成合成内容标识办法》添加标识；会员数据用于推理/个性化须完成个保法告知同意与 PIA；出境场景触发安全评估</a:t>
            </a:r>
          </a:p>
          <a:p>
            <a:pPr algn="l">
              <a:spcAft>
                <a:spcPts val="437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◆ 数据出境与模型选型</a:t>
            </a:r>
          </a:p>
          <a:p>
            <a:pPr algn="l" lvl="1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会员与对话意图数据不得接入境外模型：国内私有化部署 + 数据不出域；与全球团队『方法论共享、数据隔离』</a:t>
            </a:r>
          </a:p>
          <a:p>
            <a:pPr algn="l">
              <a:spcAft>
                <a:spcPts val="437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◆ 幻觉与错购责任</a:t>
            </a:r>
          </a:p>
          <a:p>
            <a:pPr algn="l" lvl="1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低 SKU + 结构化数据源优先；金额敏感操作二次确认；错误率红线 2%</a:t>
            </a:r>
          </a:p>
          <a:p>
            <a:pPr algn="l">
              <a:spcAft>
                <a:spcPts val="437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◆ 未成年人与代扣授权 / 比价表述</a:t>
            </a:r>
          </a:p>
          <a:p>
            <a:pPr algn="l" lvl="1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A4 级自动购买默认关闭、会员主动开启+额度管控；只承诺『山姆内最优方案』，不做全网比价话术</a:t>
            </a:r>
          </a:p>
          <a:p>
            <a:pPr algn="l">
              <a:spcAft>
                <a:spcPts val="437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◆ 竞争情报误判</a:t>
            </a:r>
          </a:p>
          <a:p>
            <a:pPr algn="l" lvl="1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京东系自报数据注水：若按其口径校准投入，会系统性高估对手、错配预算——本报告已全线降级处理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533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  <a:ea typeface="Microsoft YaHei"/>
              </a:rPr>
              <a:t>合规项须在 P1 试点立项时同步启动，勿事后补课。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4572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1">
                <a:solidFill>
                  <a:srgbClr val="0071CE"/>
                </a:solidFill>
                <a:latin typeface="Microsoft YaHei"/>
                <a:ea typeface="Microsoft YaHei"/>
              </a:rPr>
              <a:t>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>
                <a:solidFill>
                  <a:srgbClr val="1F2937"/>
                </a:solidFill>
                <a:latin typeface="Microsoft YaHei"/>
                <a:ea typeface="Microsoft YaHei"/>
              </a:rPr>
              <a:t>研究计划推进与需要 CTO 的三项支持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</a:rPr>
              <a:t>沃尔玛中国 CTO 汇报｜AI 电商行业研究（预读版 v1.3）｜数据截至 2026-07｜内部资料·注意保密｜19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</a:rPr>
              <a:t>◆ 研究推进（本报告为 P1+P2 阶段预读版）</a:t>
            </a:r>
          </a:p>
          <a:p>
            <a:pPr algn="l" lvl="1">
              <a:spcAft>
                <a:spcPts val="437"/>
              </a:spcAft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</a:rPr>
              <a:t>P3 产品实测：10 款 AI 导购评测协议（10 任务×6 维度，独立双评审盲评）→ P4 专家访谈 8~10 场（腾讯、美团系、GEO 服务商、支付方）→ P5 终版报告与 PPT</a:t>
            </a:r>
          </a:p>
          <a:p>
            <a:pPr algn="l">
              <a:spcAft>
                <a:spcPts val="489"/>
              </a:spcAft>
            </a:pP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</a:rPr>
              <a:t>◆ 质量承诺</a:t>
            </a:r>
          </a:p>
          <a:p>
            <a:pPr algn="l" lvl="1">
              <a:spcAft>
                <a:spcPts val="437"/>
              </a:spcAft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</a:rPr>
              <a:t>终版按《汇报评分标准》执行独立评审盲评循环：作者与评审分离、轮次盲评、逐维打分、证据强制；加权 ≥4.20 且单维 ≥3.5 方可提交（评分记录随附）</a:t>
            </a:r>
          </a:p>
          <a:p>
            <a:pPr algn="l">
              <a:spcAft>
                <a:spcPts val="489"/>
              </a:spcAft>
            </a:pP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</a:rPr>
              <a:t>◆ 需要 CTO 支持</a:t>
            </a:r>
          </a:p>
          <a:p>
            <a:pPr algn="l" lvl="1">
              <a:spcAft>
                <a:spcPts val="437"/>
              </a:spcAft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</a:rPr>
              <a:t>①访谈引荐（腾讯智慧零售、全球 Sparky 团队）；②第三方数据预算审批（QuestMobile 等）；③指定业务侧 Sponsor 对齐试点 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533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  <a:ea typeface="Microsoft YaHei"/>
              </a:rPr>
              <a:t>配套材料：预读文档（约 30 分钟）、评分标准与评分记录、数据底表与图表源文件（可复现）。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